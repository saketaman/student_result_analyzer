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59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4" d="100"/>
          <a:sy n="74" d="100"/>
        </p:scale>
        <p:origin x="1013" y="67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4" name="Google Shape;94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2" name="Google Shape;122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2" name="Google Shape;152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2" name="Google Shape;212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45" name="Google Shape;245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Google Shape;269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0" name="Google Shape;270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8" name="Google Shape;308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3" name="Google Shape;343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4" name="Google Shape;344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2" name="Google Shape;362;p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3" name="Google Shape;363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3"/>
          <p:cNvSpPr txBox="1"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8" name="Google Shape;18;p3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3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3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4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4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4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4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sz="4000" b="1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5"/>
          <p:cNvSpPr txBox="1"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marL="914400" lvl="1" indent="-2286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5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5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5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6" name="Google Shape;36;p6"/>
          <p:cNvSpPr txBox="1">
            <a:spLocks noGrp="1"/>
          </p:cNvSpPr>
          <p:nvPr>
            <p:ph type="body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7" name="Google Shape;37;p6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6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6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7"/>
          <p:cNvSpPr txBox="1"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7"/>
          <p:cNvSpPr txBox="1">
            <a:spLocks noGrp="1"/>
          </p:cNvSpPr>
          <p:nvPr>
            <p:ph type="body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4" name="Google Shape;44;p7"/>
          <p:cNvSpPr txBox="1">
            <a:spLocks noGrp="1"/>
          </p:cNvSpPr>
          <p:nvPr>
            <p:ph type="body" idx="3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5" name="Google Shape;45;p7"/>
          <p:cNvSpPr txBox="1">
            <a:spLocks noGrp="1"/>
          </p:cNvSpPr>
          <p:nvPr>
            <p:ph type="body" idx="4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6" name="Google Shape;46;p7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7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7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8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8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8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9"/>
          <p:cNvSpPr txBox="1">
            <a:spLocks noGrp="1"/>
          </p:cNvSpPr>
          <p:nvPr>
            <p:ph type="body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marL="1371600" lvl="2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marL="2286000" lvl="4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marL="2743200" lvl="5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7" name="Google Shape;57;p9"/>
          <p:cNvSpPr txBox="1">
            <a:spLocks noGrp="1"/>
          </p:cNvSpPr>
          <p:nvPr>
            <p:ph type="body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58" name="Google Shape;58;p9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9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9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0"/>
          <p:cNvSpPr>
            <a:spLocks noGrp="1"/>
          </p:cNvSpPr>
          <p:nvPr>
            <p:ph type="pic" idx="2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>
            <a:spLocks noGrp="1"/>
          </p:cNvSpPr>
          <p:nvPr>
            <p:ph type="body" idx="1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65" name="Google Shape;65;p10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0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0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1"/>
          <p:cNvSpPr txBox="1">
            <a:spLocks noGrp="1"/>
          </p:cNvSpPr>
          <p:nvPr>
            <p:ph type="body" idx="1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1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1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>
            <a:spLocks noGrp="1"/>
          </p:cNvSpPr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2"/>
          <p:cNvSpPr txBox="1">
            <a:spLocks noGrp="1"/>
          </p:cNvSpPr>
          <p:nvPr>
            <p:ph type="body" idx="1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1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1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318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Relationship Id="rId9" Type="http://schemas.openxmlformats.org/officeDocument/2006/relationships/image" Target="../media/image10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11.png"/><Relationship Id="rId7" Type="http://schemas.openxmlformats.org/officeDocument/2006/relationships/image" Target="../media/image1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.png"/><Relationship Id="rId11" Type="http://schemas.openxmlformats.org/officeDocument/2006/relationships/image" Target="../media/image19.png"/><Relationship Id="rId5" Type="http://schemas.openxmlformats.org/officeDocument/2006/relationships/image" Target="../media/image13.png"/><Relationship Id="rId10" Type="http://schemas.openxmlformats.org/officeDocument/2006/relationships/image" Target="../media/image18.png"/><Relationship Id="rId4" Type="http://schemas.openxmlformats.org/officeDocument/2006/relationships/image" Target="../media/image12.png"/><Relationship Id="rId9" Type="http://schemas.openxmlformats.org/officeDocument/2006/relationships/image" Target="../media/image17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13" Type="http://schemas.openxmlformats.org/officeDocument/2006/relationships/image" Target="../media/image30.png"/><Relationship Id="rId3" Type="http://schemas.openxmlformats.org/officeDocument/2006/relationships/image" Target="../media/image20.png"/><Relationship Id="rId7" Type="http://schemas.openxmlformats.org/officeDocument/2006/relationships/image" Target="../media/image24.png"/><Relationship Id="rId12" Type="http://schemas.openxmlformats.org/officeDocument/2006/relationships/image" Target="../media/image2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3.png"/><Relationship Id="rId11" Type="http://schemas.openxmlformats.org/officeDocument/2006/relationships/image" Target="../media/image28.png"/><Relationship Id="rId5" Type="http://schemas.openxmlformats.org/officeDocument/2006/relationships/image" Target="../media/image22.png"/><Relationship Id="rId10" Type="http://schemas.openxmlformats.org/officeDocument/2006/relationships/image" Target="../media/image27.png"/><Relationship Id="rId4" Type="http://schemas.openxmlformats.org/officeDocument/2006/relationships/image" Target="../media/image21.png"/><Relationship Id="rId9" Type="http://schemas.openxmlformats.org/officeDocument/2006/relationships/image" Target="../media/image26.png"/><Relationship Id="rId14" Type="http://schemas.openxmlformats.org/officeDocument/2006/relationships/image" Target="../media/image10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5.png"/><Relationship Id="rId3" Type="http://schemas.openxmlformats.org/officeDocument/2006/relationships/image" Target="../media/image31.pn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4.png"/><Relationship Id="rId5" Type="http://schemas.openxmlformats.org/officeDocument/2006/relationships/image" Target="../media/image33.png"/><Relationship Id="rId4" Type="http://schemas.openxmlformats.org/officeDocument/2006/relationships/image" Target="../media/image32.png"/><Relationship Id="rId9" Type="http://schemas.openxmlformats.org/officeDocument/2006/relationships/image" Target="../media/image3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8.png"/><Relationship Id="rId4" Type="http://schemas.openxmlformats.org/officeDocument/2006/relationships/image" Target="../media/image10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44.png"/><Relationship Id="rId13" Type="http://schemas.openxmlformats.org/officeDocument/2006/relationships/image" Target="../media/image49.png"/><Relationship Id="rId18" Type="http://schemas.openxmlformats.org/officeDocument/2006/relationships/image" Target="../media/image54.png"/><Relationship Id="rId26" Type="http://schemas.openxmlformats.org/officeDocument/2006/relationships/image" Target="../media/image62.png"/><Relationship Id="rId3" Type="http://schemas.openxmlformats.org/officeDocument/2006/relationships/image" Target="../media/image39.png"/><Relationship Id="rId21" Type="http://schemas.openxmlformats.org/officeDocument/2006/relationships/image" Target="../media/image57.png"/><Relationship Id="rId7" Type="http://schemas.openxmlformats.org/officeDocument/2006/relationships/image" Target="../media/image43.png"/><Relationship Id="rId12" Type="http://schemas.openxmlformats.org/officeDocument/2006/relationships/image" Target="../media/image48.png"/><Relationship Id="rId17" Type="http://schemas.openxmlformats.org/officeDocument/2006/relationships/image" Target="../media/image53.png"/><Relationship Id="rId25" Type="http://schemas.openxmlformats.org/officeDocument/2006/relationships/image" Target="../media/image61.png"/><Relationship Id="rId2" Type="http://schemas.openxmlformats.org/officeDocument/2006/relationships/notesSlide" Target="../notesSlides/notesSlide7.xml"/><Relationship Id="rId16" Type="http://schemas.openxmlformats.org/officeDocument/2006/relationships/image" Target="../media/image52.png"/><Relationship Id="rId20" Type="http://schemas.openxmlformats.org/officeDocument/2006/relationships/image" Target="../media/image56.png"/><Relationship Id="rId29" Type="http://schemas.openxmlformats.org/officeDocument/2006/relationships/image" Target="../media/image6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2.png"/><Relationship Id="rId11" Type="http://schemas.openxmlformats.org/officeDocument/2006/relationships/image" Target="../media/image47.png"/><Relationship Id="rId24" Type="http://schemas.openxmlformats.org/officeDocument/2006/relationships/image" Target="../media/image60.png"/><Relationship Id="rId5" Type="http://schemas.openxmlformats.org/officeDocument/2006/relationships/image" Target="../media/image41.png"/><Relationship Id="rId15" Type="http://schemas.openxmlformats.org/officeDocument/2006/relationships/image" Target="../media/image51.png"/><Relationship Id="rId23" Type="http://schemas.openxmlformats.org/officeDocument/2006/relationships/image" Target="../media/image59.png"/><Relationship Id="rId28" Type="http://schemas.openxmlformats.org/officeDocument/2006/relationships/image" Target="../media/image64.png"/><Relationship Id="rId10" Type="http://schemas.openxmlformats.org/officeDocument/2006/relationships/image" Target="../media/image46.png"/><Relationship Id="rId19" Type="http://schemas.openxmlformats.org/officeDocument/2006/relationships/image" Target="../media/image55.png"/><Relationship Id="rId4" Type="http://schemas.openxmlformats.org/officeDocument/2006/relationships/image" Target="../media/image40.png"/><Relationship Id="rId9" Type="http://schemas.openxmlformats.org/officeDocument/2006/relationships/image" Target="../media/image45.png"/><Relationship Id="rId14" Type="http://schemas.openxmlformats.org/officeDocument/2006/relationships/image" Target="../media/image50.png"/><Relationship Id="rId22" Type="http://schemas.openxmlformats.org/officeDocument/2006/relationships/image" Target="../media/image58.png"/><Relationship Id="rId27" Type="http://schemas.openxmlformats.org/officeDocument/2006/relationships/image" Target="../media/image63.png"/><Relationship Id="rId30" Type="http://schemas.openxmlformats.org/officeDocument/2006/relationships/image" Target="../media/image66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72.png"/><Relationship Id="rId3" Type="http://schemas.openxmlformats.org/officeDocument/2006/relationships/image" Target="../media/image67.png"/><Relationship Id="rId7" Type="http://schemas.openxmlformats.org/officeDocument/2006/relationships/image" Target="../media/image7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0.png"/><Relationship Id="rId11" Type="http://schemas.openxmlformats.org/officeDocument/2006/relationships/image" Target="../media/image10.png"/><Relationship Id="rId5" Type="http://schemas.openxmlformats.org/officeDocument/2006/relationships/image" Target="../media/image69.png"/><Relationship Id="rId10" Type="http://schemas.openxmlformats.org/officeDocument/2006/relationships/image" Target="../media/image74.png"/><Relationship Id="rId4" Type="http://schemas.openxmlformats.org/officeDocument/2006/relationships/image" Target="../media/image68.png"/><Relationship Id="rId9" Type="http://schemas.openxmlformats.org/officeDocument/2006/relationships/image" Target="../media/image73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80.png"/><Relationship Id="rId13" Type="http://schemas.openxmlformats.org/officeDocument/2006/relationships/image" Target="../media/image85.png"/><Relationship Id="rId3" Type="http://schemas.openxmlformats.org/officeDocument/2006/relationships/image" Target="../media/image75.png"/><Relationship Id="rId7" Type="http://schemas.openxmlformats.org/officeDocument/2006/relationships/image" Target="../media/image79.png"/><Relationship Id="rId12" Type="http://schemas.openxmlformats.org/officeDocument/2006/relationships/image" Target="../media/image8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8.png"/><Relationship Id="rId11" Type="http://schemas.openxmlformats.org/officeDocument/2006/relationships/image" Target="../media/image83.png"/><Relationship Id="rId5" Type="http://schemas.openxmlformats.org/officeDocument/2006/relationships/image" Target="../media/image77.png"/><Relationship Id="rId15" Type="http://schemas.openxmlformats.org/officeDocument/2006/relationships/image" Target="../media/image87.png"/><Relationship Id="rId10" Type="http://schemas.openxmlformats.org/officeDocument/2006/relationships/image" Target="../media/image82.png"/><Relationship Id="rId4" Type="http://schemas.openxmlformats.org/officeDocument/2006/relationships/image" Target="../media/image76.png"/><Relationship Id="rId9" Type="http://schemas.openxmlformats.org/officeDocument/2006/relationships/image" Target="../media/image81.png"/><Relationship Id="rId14" Type="http://schemas.openxmlformats.org/officeDocument/2006/relationships/image" Target="../media/image86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8.pn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1.png"/><Relationship Id="rId5" Type="http://schemas.openxmlformats.org/officeDocument/2006/relationships/image" Target="../media/image90.png"/><Relationship Id="rId4" Type="http://schemas.openxmlformats.org/officeDocument/2006/relationships/image" Target="../media/image8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3"/>
          <p:cNvSpPr txBox="1"/>
          <p:nvPr/>
        </p:nvSpPr>
        <p:spPr>
          <a:xfrm>
            <a:off x="762000" y="1785639"/>
            <a:ext cx="4950618" cy="17743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49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50" b="0" i="0" u="none" strike="noStrike" cap="non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Student Result Analyzer Dashboard</a:t>
            </a:r>
            <a:endParaRPr/>
          </a:p>
        </p:txBody>
      </p:sp>
      <p:sp>
        <p:nvSpPr>
          <p:cNvPr id="85" name="Google Shape;85;p13"/>
          <p:cNvSpPr txBox="1"/>
          <p:nvPr/>
        </p:nvSpPr>
        <p:spPr>
          <a:xfrm>
            <a:off x="762000" y="3750468"/>
            <a:ext cx="4714875" cy="6932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994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50" b="0" i="0" u="none" strike="noStrike" cap="none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Interactive Academic Performance Analysis using Microsoft Excel</a:t>
            </a:r>
            <a:endParaRPr/>
          </a:p>
        </p:txBody>
      </p:sp>
      <p:sp>
        <p:nvSpPr>
          <p:cNvPr id="86" name="Google Shape;86;p13"/>
          <p:cNvSpPr/>
          <p:nvPr/>
        </p:nvSpPr>
        <p:spPr>
          <a:xfrm>
            <a:off x="762000" y="4919960"/>
            <a:ext cx="1690914" cy="63514"/>
          </a:xfrm>
          <a:prstGeom prst="rect">
            <a:avLst/>
          </a:prstGeom>
          <a:noFill/>
          <a:ln w="28575" cap="flat" cmpd="sng">
            <a:solidFill>
              <a:srgbClr val="E2E8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" name="Google Shape;87;p13"/>
          <p:cNvSpPr txBox="1"/>
          <p:nvPr/>
        </p:nvSpPr>
        <p:spPr>
          <a:xfrm>
            <a:off x="762000" y="5234285"/>
            <a:ext cx="4714875" cy="4062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 dirty="0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Ramtanay Chakraborty &amp; Saket Aman</a:t>
            </a:r>
            <a:endParaRPr dirty="0"/>
          </a:p>
        </p:txBody>
      </p:sp>
      <p:sp>
        <p:nvSpPr>
          <p:cNvPr id="88" name="Google Shape;88;p13"/>
          <p:cNvSpPr txBox="1"/>
          <p:nvPr/>
        </p:nvSpPr>
        <p:spPr>
          <a:xfrm>
            <a:off x="762000" y="5617071"/>
            <a:ext cx="4714875" cy="274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Author</a:t>
            </a:r>
            <a:endParaRPr/>
          </a:p>
        </p:txBody>
      </p:sp>
      <p:pic>
        <p:nvPicPr>
          <p:cNvPr id="89" name="Google Shape;89;p13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334125" y="571500"/>
            <a:ext cx="5095875" cy="5715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90" name="Google Shape;90;p13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49084" y="966489"/>
            <a:ext cx="400050" cy="533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91" name="Google Shape;91;p13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1439634" y="966489"/>
            <a:ext cx="600075" cy="5334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6" name="Google Shape;96;p1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62000" y="5373033"/>
            <a:ext cx="4800600" cy="971550"/>
          </a:xfrm>
          <a:prstGeom prst="rect">
            <a:avLst/>
          </a:prstGeom>
          <a:noFill/>
          <a:ln>
            <a:noFill/>
          </a:ln>
        </p:spPr>
      </p:pic>
      <p:pic>
        <p:nvPicPr>
          <p:cNvPr id="97" name="Google Shape;97;p14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629400" y="5417277"/>
            <a:ext cx="4800600" cy="971550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p14"/>
          <p:cNvSpPr txBox="1"/>
          <p:nvPr/>
        </p:nvSpPr>
        <p:spPr>
          <a:xfrm>
            <a:off x="762000" y="571500"/>
            <a:ext cx="11201400" cy="514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50" b="1" i="0" u="none" strike="noStrike" cap="non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Problem Statement</a:t>
            </a:r>
            <a:endParaRPr/>
          </a:p>
        </p:txBody>
      </p:sp>
      <p:sp>
        <p:nvSpPr>
          <p:cNvPr id="99" name="Google Shape;99;p14"/>
          <p:cNvSpPr/>
          <p:nvPr/>
        </p:nvSpPr>
        <p:spPr>
          <a:xfrm>
            <a:off x="762000" y="1200150"/>
            <a:ext cx="10668000" cy="28575"/>
          </a:xfrm>
          <a:prstGeom prst="rect">
            <a:avLst/>
          </a:prstGeom>
          <a:solidFill>
            <a:srgbClr val="EFF6F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00" name="Google Shape;100;p14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5962650" y="5706408"/>
            <a:ext cx="266700" cy="304800"/>
          </a:xfrm>
          <a:prstGeom prst="rect">
            <a:avLst/>
          </a:prstGeom>
          <a:noFill/>
          <a:ln>
            <a:noFill/>
          </a:ln>
        </p:spPr>
      </p:pic>
      <p:sp>
        <p:nvSpPr>
          <p:cNvPr id="101" name="Google Shape;101;p14"/>
          <p:cNvSpPr txBox="1"/>
          <p:nvPr/>
        </p:nvSpPr>
        <p:spPr>
          <a:xfrm>
            <a:off x="762000" y="1477929"/>
            <a:ext cx="5350668" cy="2762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 dirty="0">
                <a:solidFill>
                  <a:srgbClr val="2563EB"/>
                </a:solidFill>
                <a:latin typeface="Arial"/>
                <a:ea typeface="Arial"/>
                <a:cs typeface="Arial"/>
                <a:sym typeface="Arial"/>
              </a:rPr>
              <a:t>The Challenge of Educational Data</a:t>
            </a:r>
            <a:endParaRPr dirty="0"/>
          </a:p>
        </p:txBody>
      </p:sp>
      <p:sp>
        <p:nvSpPr>
          <p:cNvPr id="102" name="Google Shape;102;p14"/>
          <p:cNvSpPr txBox="1"/>
          <p:nvPr/>
        </p:nvSpPr>
        <p:spPr>
          <a:xfrm>
            <a:off x="762000" y="1827372"/>
            <a:ext cx="5095875" cy="8228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 dirty="0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Schools continually collect large volumes of student academic data. However, relying on manual analysis makes it exceptionally difficult to:</a:t>
            </a:r>
            <a:endParaRPr dirty="0"/>
          </a:p>
        </p:txBody>
      </p:sp>
      <p:pic>
        <p:nvPicPr>
          <p:cNvPr id="103" name="Google Shape;103;p14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6334125" y="1745358"/>
            <a:ext cx="5095875" cy="3333750"/>
          </a:xfrm>
          <a:prstGeom prst="rect">
            <a:avLst/>
          </a:prstGeom>
          <a:noFill/>
          <a:ln>
            <a:noFill/>
          </a:ln>
        </p:spPr>
      </p:pic>
      <p:sp>
        <p:nvSpPr>
          <p:cNvPr id="104" name="Google Shape;104;p14"/>
          <p:cNvSpPr txBox="1"/>
          <p:nvPr/>
        </p:nvSpPr>
        <p:spPr>
          <a:xfrm>
            <a:off x="1771650" y="5620683"/>
            <a:ext cx="2209800" cy="476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EF4444"/>
                </a:solidFill>
                <a:latin typeface="Arial"/>
                <a:ea typeface="Arial"/>
                <a:cs typeface="Arial"/>
                <a:sym typeface="Arial"/>
              </a:rPr>
              <a:t>Manual Analysis Problems</a:t>
            </a:r>
            <a:endParaRPr/>
          </a:p>
        </p:txBody>
      </p:sp>
      <p:sp>
        <p:nvSpPr>
          <p:cNvPr id="105" name="Google Shape;105;p14"/>
          <p:cNvSpPr txBox="1"/>
          <p:nvPr/>
        </p:nvSpPr>
        <p:spPr>
          <a:xfrm>
            <a:off x="7639050" y="5620683"/>
            <a:ext cx="2219325" cy="476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10B981"/>
                </a:solidFill>
                <a:latin typeface="Arial"/>
                <a:ea typeface="Arial"/>
                <a:cs typeface="Arial"/>
                <a:sym typeface="Arial"/>
              </a:rPr>
              <a:t>Excel Dashboard Solutions</a:t>
            </a:r>
            <a:endParaRPr/>
          </a:p>
        </p:txBody>
      </p:sp>
      <p:sp>
        <p:nvSpPr>
          <p:cNvPr id="106" name="Google Shape;106;p14"/>
          <p:cNvSpPr txBox="1"/>
          <p:nvPr/>
        </p:nvSpPr>
        <p:spPr>
          <a:xfrm>
            <a:off x="1028700" y="2840742"/>
            <a:ext cx="4829175" cy="274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Identify top-performing students efficiently.</a:t>
            </a:r>
            <a:endParaRPr/>
          </a:p>
        </p:txBody>
      </p:sp>
      <p:sp>
        <p:nvSpPr>
          <p:cNvPr id="107" name="Google Shape;107;p14"/>
          <p:cNvSpPr txBox="1"/>
          <p:nvPr/>
        </p:nvSpPr>
        <p:spPr>
          <a:xfrm>
            <a:off x="1028700" y="3229332"/>
            <a:ext cx="4829175" cy="274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 dirty="0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Compare individual student performance holistically.</a:t>
            </a:r>
            <a:endParaRPr dirty="0"/>
          </a:p>
        </p:txBody>
      </p:sp>
      <p:sp>
        <p:nvSpPr>
          <p:cNvPr id="108" name="Google Shape;108;p14"/>
          <p:cNvSpPr txBox="1"/>
          <p:nvPr/>
        </p:nvSpPr>
        <p:spPr>
          <a:xfrm>
            <a:off x="1028700" y="3617923"/>
            <a:ext cx="4829175" cy="274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Understand complex grade distributions.</a:t>
            </a:r>
            <a:endParaRPr/>
          </a:p>
        </p:txBody>
      </p:sp>
      <p:sp>
        <p:nvSpPr>
          <p:cNvPr id="109" name="Google Shape;109;p14"/>
          <p:cNvSpPr txBox="1"/>
          <p:nvPr/>
        </p:nvSpPr>
        <p:spPr>
          <a:xfrm>
            <a:off x="1028700" y="4006513"/>
            <a:ext cx="4829175" cy="274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Track historical pass and fail rates accurately.</a:t>
            </a:r>
            <a:endParaRPr/>
          </a:p>
        </p:txBody>
      </p:sp>
      <p:sp>
        <p:nvSpPr>
          <p:cNvPr id="110" name="Google Shape;110;p14"/>
          <p:cNvSpPr txBox="1"/>
          <p:nvPr/>
        </p:nvSpPr>
        <p:spPr>
          <a:xfrm>
            <a:off x="1028700" y="4395103"/>
            <a:ext cx="4829175" cy="274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 dirty="0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Compare outcomes across different academic streams.</a:t>
            </a:r>
            <a:endParaRPr dirty="0"/>
          </a:p>
        </p:txBody>
      </p:sp>
      <p:sp>
        <p:nvSpPr>
          <p:cNvPr id="111" name="Google Shape;111;p14"/>
          <p:cNvSpPr txBox="1"/>
          <p:nvPr/>
        </p:nvSpPr>
        <p:spPr>
          <a:xfrm>
            <a:off x="1028700" y="4783693"/>
            <a:ext cx="4829175" cy="274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Generate rapid, on-demand administrative reports.</a:t>
            </a:r>
            <a:endParaRPr/>
          </a:p>
        </p:txBody>
      </p:sp>
      <p:pic>
        <p:nvPicPr>
          <p:cNvPr id="112" name="Google Shape;112;p14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1152525" y="5620683"/>
            <a:ext cx="476250" cy="4762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3" name="Google Shape;113;p14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7019925" y="5620683"/>
            <a:ext cx="476250" cy="4762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4" name="Google Shape;114;p14" descr="image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809625" y="2916942"/>
            <a:ext cx="76200" cy="76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5" name="Google Shape;115;p14" descr="image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809625" y="3305532"/>
            <a:ext cx="76200" cy="76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6" name="Google Shape;116;p14" descr="image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809625" y="3694123"/>
            <a:ext cx="76200" cy="76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14" descr="image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809625" y="4082713"/>
            <a:ext cx="76200" cy="76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8" name="Google Shape;118;p14" descr="image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809625" y="4471303"/>
            <a:ext cx="76200" cy="76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9" name="Google Shape;119;p14" descr="image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809625" y="4859893"/>
            <a:ext cx="76200" cy="76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oogle Shape;127;p15" descr="image.png">
            <a:extLst>
              <a:ext uri="{FF2B5EF4-FFF2-40B4-BE49-F238E27FC236}">
                <a16:creationId xmlns:a16="http://schemas.microsoft.com/office/drawing/2014/main" id="{2182B57E-A997-4B29-6BB1-EEA31666DC24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47252" y="1454547"/>
            <a:ext cx="3365450" cy="2359458"/>
          </a:xfrm>
          <a:prstGeom prst="rect">
            <a:avLst/>
          </a:prstGeom>
          <a:noFill/>
          <a:ln>
            <a:noFill/>
          </a:ln>
        </p:spPr>
      </p:pic>
      <p:pic>
        <p:nvPicPr>
          <p:cNvPr id="5" name="Google Shape;128;p15" descr="image.png">
            <a:extLst>
              <a:ext uri="{FF2B5EF4-FFF2-40B4-BE49-F238E27FC236}">
                <a16:creationId xmlns:a16="http://schemas.microsoft.com/office/drawing/2014/main" id="{5772698B-DE6A-9BCB-BC47-A5A2240DE3D0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398452" y="1528029"/>
            <a:ext cx="3365450" cy="2359458"/>
          </a:xfrm>
          <a:prstGeom prst="rect">
            <a:avLst/>
          </a:prstGeom>
          <a:noFill/>
          <a:ln>
            <a:noFill/>
          </a:ln>
        </p:spPr>
      </p:pic>
      <p:pic>
        <p:nvPicPr>
          <p:cNvPr id="7" name="Google Shape;129;p15" descr="image.png">
            <a:extLst>
              <a:ext uri="{FF2B5EF4-FFF2-40B4-BE49-F238E27FC236}">
                <a16:creationId xmlns:a16="http://schemas.microsoft.com/office/drawing/2014/main" id="{296A4F49-791A-CF05-C6A9-600658F976A7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8049651" y="1528029"/>
            <a:ext cx="3365599" cy="2359458"/>
          </a:xfrm>
          <a:prstGeom prst="rect">
            <a:avLst/>
          </a:prstGeom>
          <a:noFill/>
          <a:ln>
            <a:noFill/>
          </a:ln>
        </p:spPr>
      </p:pic>
      <p:pic>
        <p:nvPicPr>
          <p:cNvPr id="127" name="Google Shape;127;p15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47252" y="4116087"/>
            <a:ext cx="3365450" cy="2359458"/>
          </a:xfrm>
          <a:prstGeom prst="rect">
            <a:avLst/>
          </a:prstGeom>
          <a:noFill/>
          <a:ln>
            <a:noFill/>
          </a:ln>
        </p:spPr>
      </p:pic>
      <p:pic>
        <p:nvPicPr>
          <p:cNvPr id="128" name="Google Shape;128;p15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398452" y="4116087"/>
            <a:ext cx="3365450" cy="2359458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15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8049651" y="4116087"/>
            <a:ext cx="3365599" cy="2359458"/>
          </a:xfrm>
          <a:prstGeom prst="rect">
            <a:avLst/>
          </a:prstGeom>
          <a:noFill/>
          <a:ln>
            <a:noFill/>
          </a:ln>
        </p:spPr>
      </p:pic>
      <p:sp>
        <p:nvSpPr>
          <p:cNvPr id="130" name="Google Shape;130;p15"/>
          <p:cNvSpPr txBox="1"/>
          <p:nvPr/>
        </p:nvSpPr>
        <p:spPr>
          <a:xfrm>
            <a:off x="762000" y="571500"/>
            <a:ext cx="11201400" cy="514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50" b="1" i="0" u="none" strike="noStrike" cap="non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Project Objectives</a:t>
            </a:r>
            <a:endParaRPr/>
          </a:p>
        </p:txBody>
      </p:sp>
      <p:sp>
        <p:nvSpPr>
          <p:cNvPr id="131" name="Google Shape;131;p15"/>
          <p:cNvSpPr/>
          <p:nvPr/>
        </p:nvSpPr>
        <p:spPr>
          <a:xfrm>
            <a:off x="762000" y="1200150"/>
            <a:ext cx="10668000" cy="28575"/>
          </a:xfrm>
          <a:prstGeom prst="rect">
            <a:avLst/>
          </a:prstGeom>
          <a:solidFill>
            <a:srgbClr val="EFF6F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2" name="Google Shape;132;p15"/>
          <p:cNvSpPr txBox="1"/>
          <p:nvPr/>
        </p:nvSpPr>
        <p:spPr>
          <a:xfrm>
            <a:off x="1057275" y="2220576"/>
            <a:ext cx="2913645" cy="2762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Analyze Performance</a:t>
            </a:r>
            <a:endParaRPr/>
          </a:p>
        </p:txBody>
      </p:sp>
      <p:sp>
        <p:nvSpPr>
          <p:cNvPr id="133" name="Google Shape;133;p15"/>
          <p:cNvSpPr txBox="1"/>
          <p:nvPr/>
        </p:nvSpPr>
        <p:spPr>
          <a:xfrm>
            <a:off x="1057275" y="2639676"/>
            <a:ext cx="2774900" cy="8228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Deeply analyze student academic performance using structured data modeling.</a:t>
            </a:r>
            <a:endParaRPr/>
          </a:p>
        </p:txBody>
      </p:sp>
      <p:sp>
        <p:nvSpPr>
          <p:cNvPr id="134" name="Google Shape;134;p15"/>
          <p:cNvSpPr txBox="1"/>
          <p:nvPr/>
        </p:nvSpPr>
        <p:spPr>
          <a:xfrm>
            <a:off x="4708475" y="2220576"/>
            <a:ext cx="2913645" cy="2762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Interactive Dashboard</a:t>
            </a:r>
            <a:endParaRPr/>
          </a:p>
        </p:txBody>
      </p:sp>
      <p:sp>
        <p:nvSpPr>
          <p:cNvPr id="135" name="Google Shape;135;p15"/>
          <p:cNvSpPr txBox="1"/>
          <p:nvPr/>
        </p:nvSpPr>
        <p:spPr>
          <a:xfrm>
            <a:off x="4708475" y="2639676"/>
            <a:ext cx="2774900" cy="8228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Build a fully interactive dashboard for intuitive, click-driven data exploration.</a:t>
            </a:r>
            <a:endParaRPr/>
          </a:p>
        </p:txBody>
      </p:sp>
      <p:sp>
        <p:nvSpPr>
          <p:cNvPr id="136" name="Google Shape;136;p15"/>
          <p:cNvSpPr txBox="1"/>
          <p:nvPr/>
        </p:nvSpPr>
        <p:spPr>
          <a:xfrm>
            <a:off x="8359675" y="2220576"/>
            <a:ext cx="2913801" cy="2762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Dynamic Reports</a:t>
            </a:r>
            <a:endParaRPr/>
          </a:p>
        </p:txBody>
      </p:sp>
      <p:sp>
        <p:nvSpPr>
          <p:cNvPr id="137" name="Google Shape;137;p15"/>
          <p:cNvSpPr txBox="1"/>
          <p:nvPr/>
        </p:nvSpPr>
        <p:spPr>
          <a:xfrm>
            <a:off x="8359675" y="2639676"/>
            <a:ext cx="2775049" cy="8228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Create dynamic report generation capabilities to automate standard academic reviews.</a:t>
            </a:r>
            <a:endParaRPr/>
          </a:p>
        </p:txBody>
      </p:sp>
      <p:sp>
        <p:nvSpPr>
          <p:cNvPr id="138" name="Google Shape;138;p15"/>
          <p:cNvSpPr txBox="1"/>
          <p:nvPr/>
        </p:nvSpPr>
        <p:spPr>
          <a:xfrm>
            <a:off x="1057275" y="4913409"/>
            <a:ext cx="2913645" cy="2762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Compare Grades</a:t>
            </a:r>
            <a:endParaRPr/>
          </a:p>
        </p:txBody>
      </p:sp>
      <p:sp>
        <p:nvSpPr>
          <p:cNvPr id="139" name="Google Shape;139;p15"/>
          <p:cNvSpPr txBox="1"/>
          <p:nvPr/>
        </p:nvSpPr>
        <p:spPr>
          <a:xfrm>
            <a:off x="1057275" y="5332509"/>
            <a:ext cx="2774900" cy="8228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Facilitate macro and micro comparisons of grades across subjects and demographics.</a:t>
            </a:r>
            <a:endParaRPr/>
          </a:p>
        </p:txBody>
      </p:sp>
      <p:sp>
        <p:nvSpPr>
          <p:cNvPr id="140" name="Google Shape;140;p15"/>
          <p:cNvSpPr txBox="1"/>
          <p:nvPr/>
        </p:nvSpPr>
        <p:spPr>
          <a:xfrm>
            <a:off x="4737971" y="4883913"/>
            <a:ext cx="2913645" cy="2762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 dirty="0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Identify Performers</a:t>
            </a:r>
            <a:endParaRPr dirty="0"/>
          </a:p>
        </p:txBody>
      </p:sp>
      <p:sp>
        <p:nvSpPr>
          <p:cNvPr id="141" name="Google Shape;141;p15"/>
          <p:cNvSpPr txBox="1"/>
          <p:nvPr/>
        </p:nvSpPr>
        <p:spPr>
          <a:xfrm>
            <a:off x="4737971" y="5303013"/>
            <a:ext cx="2774900" cy="8228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 dirty="0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Instantly identify top academic performers overall and within specific streams.</a:t>
            </a:r>
            <a:endParaRPr dirty="0"/>
          </a:p>
        </p:txBody>
      </p:sp>
      <p:sp>
        <p:nvSpPr>
          <p:cNvPr id="142" name="Google Shape;142;p15"/>
          <p:cNvSpPr txBox="1"/>
          <p:nvPr/>
        </p:nvSpPr>
        <p:spPr>
          <a:xfrm>
            <a:off x="8359675" y="4913409"/>
            <a:ext cx="2913801" cy="2762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Visualize Averages</a:t>
            </a:r>
            <a:endParaRPr/>
          </a:p>
        </p:txBody>
      </p:sp>
      <p:sp>
        <p:nvSpPr>
          <p:cNvPr id="143" name="Google Shape;143;p15"/>
          <p:cNvSpPr txBox="1"/>
          <p:nvPr/>
        </p:nvSpPr>
        <p:spPr>
          <a:xfrm>
            <a:off x="8359675" y="5332509"/>
            <a:ext cx="2775049" cy="8228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 dirty="0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Provide clear, visual subject-wise performance benchmarks and averages.</a:t>
            </a:r>
            <a:endParaRPr dirty="0"/>
          </a:p>
        </p:txBody>
      </p:sp>
      <p:pic>
        <p:nvPicPr>
          <p:cNvPr id="144" name="Google Shape;144;p15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1057275" y="1708068"/>
            <a:ext cx="342900" cy="3429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5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4708475" y="1708068"/>
            <a:ext cx="428625" cy="3429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6" name="Google Shape;146;p15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8359675" y="1708068"/>
            <a:ext cx="390525" cy="3429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7" name="Google Shape;147;p15" descr="image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1072023" y="4371405"/>
            <a:ext cx="428625" cy="3429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8" name="Google Shape;148;p15" descr="image.png"/>
          <p:cNvPicPr preferRelativeResize="0"/>
          <p:nvPr/>
        </p:nvPicPr>
        <p:blipFill rotWithShape="1">
          <a:blip r:embed="rId10">
            <a:alphaModFix/>
          </a:blip>
          <a:srcRect/>
          <a:stretch/>
        </p:blipFill>
        <p:spPr>
          <a:xfrm>
            <a:off x="4737971" y="4341909"/>
            <a:ext cx="390525" cy="3429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9" name="Google Shape;149;p15" descr="image.png"/>
          <p:cNvPicPr preferRelativeResize="0"/>
          <p:nvPr/>
        </p:nvPicPr>
        <p:blipFill rotWithShape="1">
          <a:blip r:embed="rId11">
            <a:alphaModFix/>
          </a:blip>
          <a:srcRect/>
          <a:stretch/>
        </p:blipFill>
        <p:spPr>
          <a:xfrm>
            <a:off x="8374423" y="4371405"/>
            <a:ext cx="342900" cy="3429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4" name="Google Shape;154;p16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62000" y="5676923"/>
            <a:ext cx="10668000" cy="741394"/>
          </a:xfrm>
          <a:prstGeom prst="rect">
            <a:avLst/>
          </a:prstGeom>
          <a:noFill/>
          <a:ln>
            <a:noFill/>
          </a:ln>
        </p:spPr>
      </p:pic>
      <p:pic>
        <p:nvPicPr>
          <p:cNvPr id="155" name="Google Shape;155;p16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62000" y="1314765"/>
            <a:ext cx="5095875" cy="393319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6" name="Google Shape;156;p16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334125" y="1332882"/>
            <a:ext cx="5095875" cy="3915078"/>
          </a:xfrm>
          <a:prstGeom prst="rect">
            <a:avLst/>
          </a:prstGeom>
          <a:noFill/>
          <a:ln>
            <a:noFill/>
          </a:ln>
        </p:spPr>
      </p:pic>
      <p:sp>
        <p:nvSpPr>
          <p:cNvPr id="157" name="Google Shape;157;p16"/>
          <p:cNvSpPr txBox="1"/>
          <p:nvPr/>
        </p:nvSpPr>
        <p:spPr>
          <a:xfrm>
            <a:off x="762000" y="571500"/>
            <a:ext cx="11201400" cy="514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50" b="1" i="0" u="none" strike="noStrike" cap="non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Dataset Overview &amp; Cleaning</a:t>
            </a:r>
            <a:endParaRPr/>
          </a:p>
        </p:txBody>
      </p:sp>
      <p:sp>
        <p:nvSpPr>
          <p:cNvPr id="158" name="Google Shape;158;p16"/>
          <p:cNvSpPr/>
          <p:nvPr/>
        </p:nvSpPr>
        <p:spPr>
          <a:xfrm>
            <a:off x="762000" y="1200150"/>
            <a:ext cx="10668000" cy="28575"/>
          </a:xfrm>
          <a:prstGeom prst="rect">
            <a:avLst/>
          </a:prstGeom>
          <a:solidFill>
            <a:srgbClr val="EFF6F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9" name="Google Shape;159;p16"/>
          <p:cNvSpPr txBox="1"/>
          <p:nvPr/>
        </p:nvSpPr>
        <p:spPr>
          <a:xfrm>
            <a:off x="1771650" y="5954069"/>
            <a:ext cx="771525" cy="1812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Raw Data</a:t>
            </a:r>
            <a:endParaRPr/>
          </a:p>
        </p:txBody>
      </p:sp>
      <p:pic>
        <p:nvPicPr>
          <p:cNvPr id="160" name="Google Shape;160;p16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3022089" y="5930414"/>
            <a:ext cx="200025" cy="228600"/>
          </a:xfrm>
          <a:prstGeom prst="rect">
            <a:avLst/>
          </a:prstGeom>
          <a:noFill/>
          <a:ln>
            <a:noFill/>
          </a:ln>
        </p:spPr>
      </p:pic>
      <p:sp>
        <p:nvSpPr>
          <p:cNvPr id="161" name="Google Shape;161;p16"/>
          <p:cNvSpPr txBox="1"/>
          <p:nvPr/>
        </p:nvSpPr>
        <p:spPr>
          <a:xfrm>
            <a:off x="4349650" y="5954069"/>
            <a:ext cx="1152525" cy="1812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Data Cleaning</a:t>
            </a:r>
            <a:endParaRPr/>
          </a:p>
        </p:txBody>
      </p:sp>
      <p:pic>
        <p:nvPicPr>
          <p:cNvPr id="162" name="Google Shape;162;p16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5981090" y="5930414"/>
            <a:ext cx="200025" cy="2286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16"/>
          <p:cNvSpPr txBox="1"/>
          <p:nvPr/>
        </p:nvSpPr>
        <p:spPr>
          <a:xfrm>
            <a:off x="7308651" y="5954069"/>
            <a:ext cx="1028700" cy="1812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Pivot Tables</a:t>
            </a:r>
            <a:endParaRPr/>
          </a:p>
        </p:txBody>
      </p:sp>
      <p:pic>
        <p:nvPicPr>
          <p:cNvPr id="164" name="Google Shape;164;p16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8816266" y="5930414"/>
            <a:ext cx="200025" cy="228600"/>
          </a:xfrm>
          <a:prstGeom prst="rect">
            <a:avLst/>
          </a:prstGeom>
          <a:noFill/>
          <a:ln>
            <a:noFill/>
          </a:ln>
        </p:spPr>
      </p:pic>
      <p:sp>
        <p:nvSpPr>
          <p:cNvPr id="165" name="Google Shape;165;p16"/>
          <p:cNvSpPr txBox="1"/>
          <p:nvPr/>
        </p:nvSpPr>
        <p:spPr>
          <a:xfrm>
            <a:off x="10143827" y="5954069"/>
            <a:ext cx="895350" cy="1812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Dashboard</a:t>
            </a:r>
            <a:endParaRPr/>
          </a:p>
        </p:txBody>
      </p:sp>
      <p:sp>
        <p:nvSpPr>
          <p:cNvPr id="166" name="Google Shape;166;p16"/>
          <p:cNvSpPr txBox="1"/>
          <p:nvPr/>
        </p:nvSpPr>
        <p:spPr>
          <a:xfrm>
            <a:off x="1057275" y="1610040"/>
            <a:ext cx="4730591" cy="2762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95275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>
                <a:solidFill>
                  <a:srgbClr val="2563EB"/>
                </a:solidFill>
                <a:latin typeface="Arial"/>
                <a:ea typeface="Arial"/>
                <a:cs typeface="Arial"/>
                <a:sym typeface="Arial"/>
              </a:rPr>
              <a:t>Dataset Columns</a:t>
            </a:r>
            <a:endParaRPr/>
          </a:p>
        </p:txBody>
      </p:sp>
      <p:sp>
        <p:nvSpPr>
          <p:cNvPr id="167" name="Google Shape;167;p16"/>
          <p:cNvSpPr txBox="1"/>
          <p:nvPr/>
        </p:nvSpPr>
        <p:spPr>
          <a:xfrm>
            <a:off x="6629400" y="1610040"/>
            <a:ext cx="4730591" cy="2762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52425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>
                <a:solidFill>
                  <a:srgbClr val="2563EB"/>
                </a:solidFill>
                <a:latin typeface="Arial"/>
                <a:ea typeface="Arial"/>
                <a:cs typeface="Arial"/>
                <a:sym typeface="Arial"/>
              </a:rPr>
              <a:t>Data Cleaning Process</a:t>
            </a:r>
            <a:endParaRPr/>
          </a:p>
        </p:txBody>
      </p:sp>
      <p:pic>
        <p:nvPicPr>
          <p:cNvPr id="168" name="Google Shape;168;p16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1152525" y="5806589"/>
            <a:ext cx="476250" cy="4762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69" name="Google Shape;169;p16" descr="image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3730525" y="5806589"/>
            <a:ext cx="476250" cy="4762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70" name="Google Shape;170;p16" descr="image.png"/>
          <p:cNvPicPr preferRelativeResize="0"/>
          <p:nvPr/>
        </p:nvPicPr>
        <p:blipFill rotWithShape="1">
          <a:blip r:embed="rId10">
            <a:alphaModFix/>
          </a:blip>
          <a:srcRect/>
          <a:stretch/>
        </p:blipFill>
        <p:spPr>
          <a:xfrm>
            <a:off x="6689526" y="5806589"/>
            <a:ext cx="476250" cy="4762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71" name="Google Shape;171;p16" descr="image.png"/>
          <p:cNvPicPr preferRelativeResize="0"/>
          <p:nvPr/>
        </p:nvPicPr>
        <p:blipFill rotWithShape="1">
          <a:blip r:embed="rId11">
            <a:alphaModFix/>
          </a:blip>
          <a:srcRect/>
          <a:stretch/>
        </p:blipFill>
        <p:spPr>
          <a:xfrm>
            <a:off x="9524702" y="5806589"/>
            <a:ext cx="476250" cy="4762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72" name="Google Shape;172;p16" descr="image.png"/>
          <p:cNvPicPr preferRelativeResize="0"/>
          <p:nvPr/>
        </p:nvPicPr>
        <p:blipFill rotWithShape="1">
          <a:blip r:embed="rId12">
            <a:alphaModFix/>
          </a:blip>
          <a:srcRect/>
          <a:stretch/>
        </p:blipFill>
        <p:spPr>
          <a:xfrm>
            <a:off x="1057275" y="1629090"/>
            <a:ext cx="200025" cy="228600"/>
          </a:xfrm>
          <a:prstGeom prst="rect">
            <a:avLst/>
          </a:prstGeom>
          <a:noFill/>
          <a:ln>
            <a:noFill/>
          </a:ln>
        </p:spPr>
      </p:pic>
      <p:sp>
        <p:nvSpPr>
          <p:cNvPr id="173" name="Google Shape;173;p16"/>
          <p:cNvSpPr txBox="1"/>
          <p:nvPr/>
        </p:nvSpPr>
        <p:spPr>
          <a:xfrm>
            <a:off x="1323975" y="2029140"/>
            <a:ext cx="1843087" cy="274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Student ID</a:t>
            </a:r>
            <a:endParaRPr/>
          </a:p>
        </p:txBody>
      </p:sp>
      <p:sp>
        <p:nvSpPr>
          <p:cNvPr id="174" name="Google Shape;174;p16"/>
          <p:cNvSpPr txBox="1"/>
          <p:nvPr/>
        </p:nvSpPr>
        <p:spPr>
          <a:xfrm>
            <a:off x="1323975" y="2417730"/>
            <a:ext cx="1843087" cy="274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Student Name</a:t>
            </a:r>
            <a:endParaRPr/>
          </a:p>
        </p:txBody>
      </p:sp>
      <p:sp>
        <p:nvSpPr>
          <p:cNvPr id="175" name="Google Shape;175;p16"/>
          <p:cNvSpPr txBox="1"/>
          <p:nvPr/>
        </p:nvSpPr>
        <p:spPr>
          <a:xfrm>
            <a:off x="1323975" y="2806320"/>
            <a:ext cx="1843087" cy="274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Gender</a:t>
            </a:r>
            <a:endParaRPr/>
          </a:p>
        </p:txBody>
      </p:sp>
      <p:sp>
        <p:nvSpPr>
          <p:cNvPr id="176" name="Google Shape;176;p16"/>
          <p:cNvSpPr txBox="1"/>
          <p:nvPr/>
        </p:nvSpPr>
        <p:spPr>
          <a:xfrm>
            <a:off x="1323975" y="3194910"/>
            <a:ext cx="1843087" cy="274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Stream</a:t>
            </a:r>
            <a:endParaRPr/>
          </a:p>
        </p:txBody>
      </p:sp>
      <p:sp>
        <p:nvSpPr>
          <p:cNvPr id="177" name="Google Shape;177;p16"/>
          <p:cNvSpPr txBox="1"/>
          <p:nvPr/>
        </p:nvSpPr>
        <p:spPr>
          <a:xfrm>
            <a:off x="1323975" y="3583500"/>
            <a:ext cx="1843087" cy="274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Section</a:t>
            </a:r>
            <a:endParaRPr/>
          </a:p>
        </p:txBody>
      </p:sp>
      <p:sp>
        <p:nvSpPr>
          <p:cNvPr id="178" name="Google Shape;178;p16"/>
          <p:cNvSpPr txBox="1"/>
          <p:nvPr/>
        </p:nvSpPr>
        <p:spPr>
          <a:xfrm>
            <a:off x="1323975" y="3972091"/>
            <a:ext cx="1843087" cy="274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Subject Marks</a:t>
            </a:r>
            <a:endParaRPr/>
          </a:p>
        </p:txBody>
      </p:sp>
      <p:sp>
        <p:nvSpPr>
          <p:cNvPr id="179" name="Google Shape;179;p16"/>
          <p:cNvSpPr txBox="1"/>
          <p:nvPr/>
        </p:nvSpPr>
        <p:spPr>
          <a:xfrm>
            <a:off x="3719512" y="2029140"/>
            <a:ext cx="1843087" cy="274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Total Marks</a:t>
            </a:r>
            <a:endParaRPr/>
          </a:p>
        </p:txBody>
      </p:sp>
      <p:sp>
        <p:nvSpPr>
          <p:cNvPr id="180" name="Google Shape;180;p16"/>
          <p:cNvSpPr txBox="1"/>
          <p:nvPr/>
        </p:nvSpPr>
        <p:spPr>
          <a:xfrm>
            <a:off x="3719512" y="2417730"/>
            <a:ext cx="1843087" cy="274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Average</a:t>
            </a:r>
            <a:endParaRPr/>
          </a:p>
        </p:txBody>
      </p:sp>
      <p:sp>
        <p:nvSpPr>
          <p:cNvPr id="181" name="Google Shape;181;p16"/>
          <p:cNvSpPr txBox="1"/>
          <p:nvPr/>
        </p:nvSpPr>
        <p:spPr>
          <a:xfrm>
            <a:off x="3719512" y="2806320"/>
            <a:ext cx="1843087" cy="274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Position</a:t>
            </a:r>
            <a:endParaRPr/>
          </a:p>
        </p:txBody>
      </p:sp>
      <p:sp>
        <p:nvSpPr>
          <p:cNvPr id="182" name="Google Shape;182;p16"/>
          <p:cNvSpPr txBox="1"/>
          <p:nvPr/>
        </p:nvSpPr>
        <p:spPr>
          <a:xfrm>
            <a:off x="3719512" y="3194910"/>
            <a:ext cx="1843087" cy="274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Grade</a:t>
            </a:r>
            <a:endParaRPr/>
          </a:p>
        </p:txBody>
      </p:sp>
      <p:sp>
        <p:nvSpPr>
          <p:cNvPr id="183" name="Google Shape;183;p16"/>
          <p:cNvSpPr txBox="1"/>
          <p:nvPr/>
        </p:nvSpPr>
        <p:spPr>
          <a:xfrm>
            <a:off x="3719512" y="3583500"/>
            <a:ext cx="1843087" cy="274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Attendance</a:t>
            </a:r>
            <a:endParaRPr/>
          </a:p>
        </p:txBody>
      </p:sp>
      <p:sp>
        <p:nvSpPr>
          <p:cNvPr id="184" name="Google Shape;184;p16"/>
          <p:cNvSpPr txBox="1"/>
          <p:nvPr/>
        </p:nvSpPr>
        <p:spPr>
          <a:xfrm>
            <a:off x="3719512" y="3972091"/>
            <a:ext cx="1843087" cy="274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Remark</a:t>
            </a:r>
            <a:endParaRPr/>
          </a:p>
        </p:txBody>
      </p:sp>
      <p:pic>
        <p:nvPicPr>
          <p:cNvPr id="185" name="Google Shape;185;p16" descr="image.png"/>
          <p:cNvPicPr preferRelativeResize="0"/>
          <p:nvPr/>
        </p:nvPicPr>
        <p:blipFill rotWithShape="1">
          <a:blip r:embed="rId13">
            <a:alphaModFix/>
          </a:blip>
          <a:srcRect/>
          <a:stretch/>
        </p:blipFill>
        <p:spPr>
          <a:xfrm>
            <a:off x="6629400" y="1629090"/>
            <a:ext cx="257175" cy="228600"/>
          </a:xfrm>
          <a:prstGeom prst="rect">
            <a:avLst/>
          </a:prstGeom>
          <a:noFill/>
          <a:ln>
            <a:noFill/>
          </a:ln>
        </p:spPr>
      </p:pic>
      <p:sp>
        <p:nvSpPr>
          <p:cNvPr id="186" name="Google Shape;186;p16"/>
          <p:cNvSpPr txBox="1"/>
          <p:nvPr/>
        </p:nvSpPr>
        <p:spPr>
          <a:xfrm>
            <a:off x="6896100" y="1925904"/>
            <a:ext cx="4238625" cy="5485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 dirty="0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Remove duplicates:</a:t>
            </a:r>
            <a:r>
              <a:rPr lang="en-US" sz="1350" b="0" i="0" u="none" strike="noStrike" cap="none" dirty="0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 Ensure unique student records.</a:t>
            </a:r>
            <a:endParaRPr dirty="0"/>
          </a:p>
        </p:txBody>
      </p:sp>
      <p:sp>
        <p:nvSpPr>
          <p:cNvPr id="187" name="Google Shape;187;p16"/>
          <p:cNvSpPr txBox="1"/>
          <p:nvPr/>
        </p:nvSpPr>
        <p:spPr>
          <a:xfrm>
            <a:off x="6896100" y="2371074"/>
            <a:ext cx="4238625" cy="274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Correct formatting:</a:t>
            </a:r>
            <a:r>
              <a:rPr lang="en-US" sz="1350" b="0" i="0" u="none" strike="noStrike" cap="non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 Standardize text and numbers.</a:t>
            </a:r>
            <a:endParaRPr/>
          </a:p>
        </p:txBody>
      </p:sp>
      <p:sp>
        <p:nvSpPr>
          <p:cNvPr id="188" name="Google Shape;188;p16"/>
          <p:cNvSpPr txBox="1"/>
          <p:nvPr/>
        </p:nvSpPr>
        <p:spPr>
          <a:xfrm>
            <a:off x="6896100" y="2759664"/>
            <a:ext cx="4238625" cy="5485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Handle missing values:</a:t>
            </a:r>
            <a:r>
              <a:rPr lang="en-US" sz="1350" b="0" i="0" u="none" strike="noStrike" cap="non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 Impute or clean blank entries.</a:t>
            </a:r>
            <a:endParaRPr/>
          </a:p>
        </p:txBody>
      </p:sp>
      <p:sp>
        <p:nvSpPr>
          <p:cNvPr id="189" name="Google Shape;189;p16"/>
          <p:cNvSpPr txBox="1"/>
          <p:nvPr/>
        </p:nvSpPr>
        <p:spPr>
          <a:xfrm>
            <a:off x="6896100" y="3127585"/>
            <a:ext cx="4238625" cy="274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 dirty="0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Validate marks:</a:t>
            </a:r>
            <a:r>
              <a:rPr lang="en-US" sz="1350" b="0" i="0" u="none" strike="noStrike" cap="none" dirty="0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 Ensure numeric consistency.</a:t>
            </a:r>
            <a:endParaRPr dirty="0"/>
          </a:p>
        </p:txBody>
      </p:sp>
      <p:sp>
        <p:nvSpPr>
          <p:cNvPr id="190" name="Google Shape;190;p16"/>
          <p:cNvSpPr txBox="1"/>
          <p:nvPr/>
        </p:nvSpPr>
        <p:spPr>
          <a:xfrm>
            <a:off x="6896100" y="3516175"/>
            <a:ext cx="4238625" cy="5485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 dirty="0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Calculate metrics:</a:t>
            </a:r>
            <a:r>
              <a:rPr lang="en-US" sz="1350" b="0" i="0" u="none" strike="noStrike" cap="none" dirty="0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 Auto-calculate Total and Average.</a:t>
            </a:r>
            <a:endParaRPr dirty="0"/>
          </a:p>
        </p:txBody>
      </p:sp>
      <p:sp>
        <p:nvSpPr>
          <p:cNvPr id="191" name="Google Shape;191;p16"/>
          <p:cNvSpPr txBox="1"/>
          <p:nvPr/>
        </p:nvSpPr>
        <p:spPr>
          <a:xfrm>
            <a:off x="6896100" y="3869347"/>
            <a:ext cx="4238625" cy="5485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 dirty="0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Assign logic:</a:t>
            </a:r>
            <a:r>
              <a:rPr lang="en-US" sz="1350" b="0" i="0" u="none" strike="noStrike" cap="none" dirty="0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 Conditionally assign Grades based on logic.</a:t>
            </a:r>
            <a:endParaRPr dirty="0"/>
          </a:p>
        </p:txBody>
      </p:sp>
      <p:pic>
        <p:nvPicPr>
          <p:cNvPr id="192" name="Google Shape;192;p16" descr="image.png"/>
          <p:cNvPicPr preferRelativeResize="0"/>
          <p:nvPr/>
        </p:nvPicPr>
        <p:blipFill rotWithShape="1">
          <a:blip r:embed="rId14">
            <a:alphaModFix/>
          </a:blip>
          <a:srcRect/>
          <a:stretch/>
        </p:blipFill>
        <p:spPr>
          <a:xfrm>
            <a:off x="1104900" y="2105340"/>
            <a:ext cx="76200" cy="76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93" name="Google Shape;193;p16" descr="image.png"/>
          <p:cNvPicPr preferRelativeResize="0"/>
          <p:nvPr/>
        </p:nvPicPr>
        <p:blipFill rotWithShape="1">
          <a:blip r:embed="rId14">
            <a:alphaModFix/>
          </a:blip>
          <a:srcRect/>
          <a:stretch/>
        </p:blipFill>
        <p:spPr>
          <a:xfrm>
            <a:off x="1104900" y="2493930"/>
            <a:ext cx="76200" cy="76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94" name="Google Shape;194;p16" descr="image.png"/>
          <p:cNvPicPr preferRelativeResize="0"/>
          <p:nvPr/>
        </p:nvPicPr>
        <p:blipFill rotWithShape="1">
          <a:blip r:embed="rId14">
            <a:alphaModFix/>
          </a:blip>
          <a:srcRect/>
          <a:stretch/>
        </p:blipFill>
        <p:spPr>
          <a:xfrm>
            <a:off x="1104900" y="2882520"/>
            <a:ext cx="76200" cy="76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95" name="Google Shape;195;p16" descr="image.png"/>
          <p:cNvPicPr preferRelativeResize="0"/>
          <p:nvPr/>
        </p:nvPicPr>
        <p:blipFill rotWithShape="1">
          <a:blip r:embed="rId14">
            <a:alphaModFix/>
          </a:blip>
          <a:srcRect/>
          <a:stretch/>
        </p:blipFill>
        <p:spPr>
          <a:xfrm>
            <a:off x="1104900" y="3271110"/>
            <a:ext cx="76200" cy="76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96" name="Google Shape;196;p16" descr="image.png"/>
          <p:cNvPicPr preferRelativeResize="0"/>
          <p:nvPr/>
        </p:nvPicPr>
        <p:blipFill rotWithShape="1">
          <a:blip r:embed="rId14">
            <a:alphaModFix/>
          </a:blip>
          <a:srcRect/>
          <a:stretch/>
        </p:blipFill>
        <p:spPr>
          <a:xfrm>
            <a:off x="1104900" y="3659700"/>
            <a:ext cx="76200" cy="76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97" name="Google Shape;197;p16" descr="image.png"/>
          <p:cNvPicPr preferRelativeResize="0"/>
          <p:nvPr/>
        </p:nvPicPr>
        <p:blipFill rotWithShape="1">
          <a:blip r:embed="rId14">
            <a:alphaModFix/>
          </a:blip>
          <a:srcRect/>
          <a:stretch/>
        </p:blipFill>
        <p:spPr>
          <a:xfrm>
            <a:off x="1104900" y="4048291"/>
            <a:ext cx="76200" cy="76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98" name="Google Shape;198;p16" descr="image.png"/>
          <p:cNvPicPr preferRelativeResize="0"/>
          <p:nvPr/>
        </p:nvPicPr>
        <p:blipFill rotWithShape="1">
          <a:blip r:embed="rId14">
            <a:alphaModFix/>
          </a:blip>
          <a:srcRect/>
          <a:stretch/>
        </p:blipFill>
        <p:spPr>
          <a:xfrm>
            <a:off x="3500437" y="2105340"/>
            <a:ext cx="76200" cy="76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99" name="Google Shape;199;p16" descr="image.png"/>
          <p:cNvPicPr preferRelativeResize="0"/>
          <p:nvPr/>
        </p:nvPicPr>
        <p:blipFill rotWithShape="1">
          <a:blip r:embed="rId14">
            <a:alphaModFix/>
          </a:blip>
          <a:srcRect/>
          <a:stretch/>
        </p:blipFill>
        <p:spPr>
          <a:xfrm>
            <a:off x="3500437" y="2493930"/>
            <a:ext cx="76200" cy="76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00" name="Google Shape;200;p16" descr="image.png"/>
          <p:cNvPicPr preferRelativeResize="0"/>
          <p:nvPr/>
        </p:nvPicPr>
        <p:blipFill rotWithShape="1">
          <a:blip r:embed="rId14">
            <a:alphaModFix/>
          </a:blip>
          <a:srcRect/>
          <a:stretch/>
        </p:blipFill>
        <p:spPr>
          <a:xfrm>
            <a:off x="3500437" y="2882520"/>
            <a:ext cx="76200" cy="76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01" name="Google Shape;201;p16" descr="image.png"/>
          <p:cNvPicPr preferRelativeResize="0"/>
          <p:nvPr/>
        </p:nvPicPr>
        <p:blipFill rotWithShape="1">
          <a:blip r:embed="rId14">
            <a:alphaModFix/>
          </a:blip>
          <a:srcRect/>
          <a:stretch/>
        </p:blipFill>
        <p:spPr>
          <a:xfrm>
            <a:off x="3500437" y="3271110"/>
            <a:ext cx="76200" cy="76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02" name="Google Shape;202;p16" descr="image.png"/>
          <p:cNvPicPr preferRelativeResize="0"/>
          <p:nvPr/>
        </p:nvPicPr>
        <p:blipFill rotWithShape="1">
          <a:blip r:embed="rId14">
            <a:alphaModFix/>
          </a:blip>
          <a:srcRect/>
          <a:stretch/>
        </p:blipFill>
        <p:spPr>
          <a:xfrm>
            <a:off x="3500437" y="3659700"/>
            <a:ext cx="76200" cy="76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03" name="Google Shape;203;p16" descr="image.png"/>
          <p:cNvPicPr preferRelativeResize="0"/>
          <p:nvPr/>
        </p:nvPicPr>
        <p:blipFill rotWithShape="1">
          <a:blip r:embed="rId14">
            <a:alphaModFix/>
          </a:blip>
          <a:srcRect/>
          <a:stretch/>
        </p:blipFill>
        <p:spPr>
          <a:xfrm>
            <a:off x="3500437" y="4048291"/>
            <a:ext cx="76200" cy="76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04" name="Google Shape;204;p16" descr="image.png"/>
          <p:cNvPicPr preferRelativeResize="0"/>
          <p:nvPr/>
        </p:nvPicPr>
        <p:blipFill rotWithShape="1">
          <a:blip r:embed="rId14">
            <a:alphaModFix/>
          </a:blip>
          <a:srcRect/>
          <a:stretch/>
        </p:blipFill>
        <p:spPr>
          <a:xfrm>
            <a:off x="6677025" y="2105340"/>
            <a:ext cx="76200" cy="76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05" name="Google Shape;205;p16" descr="image.png"/>
          <p:cNvPicPr preferRelativeResize="0"/>
          <p:nvPr/>
        </p:nvPicPr>
        <p:blipFill rotWithShape="1">
          <a:blip r:embed="rId14">
            <a:alphaModFix/>
          </a:blip>
          <a:srcRect/>
          <a:stretch/>
        </p:blipFill>
        <p:spPr>
          <a:xfrm>
            <a:off x="6677025" y="2550510"/>
            <a:ext cx="76200" cy="76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06" name="Google Shape;206;p16" descr="image.png"/>
          <p:cNvPicPr preferRelativeResize="0"/>
          <p:nvPr/>
        </p:nvPicPr>
        <p:blipFill rotWithShape="1">
          <a:blip r:embed="rId14">
            <a:alphaModFix/>
          </a:blip>
          <a:srcRect/>
          <a:stretch/>
        </p:blipFill>
        <p:spPr>
          <a:xfrm>
            <a:off x="6677025" y="2910072"/>
            <a:ext cx="76200" cy="76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07" name="Google Shape;207;p16" descr="image.png"/>
          <p:cNvPicPr preferRelativeResize="0"/>
          <p:nvPr/>
        </p:nvPicPr>
        <p:blipFill rotWithShape="1">
          <a:blip r:embed="rId14">
            <a:alphaModFix/>
          </a:blip>
          <a:srcRect/>
          <a:stretch/>
        </p:blipFill>
        <p:spPr>
          <a:xfrm>
            <a:off x="6677025" y="3660037"/>
            <a:ext cx="76200" cy="76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08" name="Google Shape;208;p16" descr="image.png"/>
          <p:cNvPicPr preferRelativeResize="0"/>
          <p:nvPr/>
        </p:nvPicPr>
        <p:blipFill rotWithShape="1">
          <a:blip r:embed="rId14">
            <a:alphaModFix/>
          </a:blip>
          <a:srcRect/>
          <a:stretch/>
        </p:blipFill>
        <p:spPr>
          <a:xfrm>
            <a:off x="6677025" y="3990571"/>
            <a:ext cx="76200" cy="76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09" name="Google Shape;209;p16" descr="image.png"/>
          <p:cNvPicPr preferRelativeResize="0"/>
          <p:nvPr/>
        </p:nvPicPr>
        <p:blipFill rotWithShape="1">
          <a:blip r:embed="rId14">
            <a:alphaModFix/>
          </a:blip>
          <a:srcRect/>
          <a:stretch/>
        </p:blipFill>
        <p:spPr>
          <a:xfrm>
            <a:off x="6677025" y="3252369"/>
            <a:ext cx="76200" cy="76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5" name="Google Shape;215;p17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323283" y="5512191"/>
            <a:ext cx="5095875" cy="1120833"/>
          </a:xfrm>
          <a:prstGeom prst="rect">
            <a:avLst/>
          </a:prstGeom>
          <a:noFill/>
          <a:ln>
            <a:noFill/>
          </a:ln>
        </p:spPr>
      </p:pic>
      <p:sp>
        <p:nvSpPr>
          <p:cNvPr id="216" name="Google Shape;216;p17"/>
          <p:cNvSpPr txBox="1"/>
          <p:nvPr/>
        </p:nvSpPr>
        <p:spPr>
          <a:xfrm>
            <a:off x="762000" y="571500"/>
            <a:ext cx="11201400" cy="514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50" b="1" i="0" u="none" strike="noStrike" cap="non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Interactive Dashboard</a:t>
            </a:r>
            <a:endParaRPr/>
          </a:p>
        </p:txBody>
      </p:sp>
      <p:sp>
        <p:nvSpPr>
          <p:cNvPr id="217" name="Google Shape;217;p17"/>
          <p:cNvSpPr/>
          <p:nvPr/>
        </p:nvSpPr>
        <p:spPr>
          <a:xfrm>
            <a:off x="762000" y="1200150"/>
            <a:ext cx="10668000" cy="28575"/>
          </a:xfrm>
          <a:prstGeom prst="rect">
            <a:avLst/>
          </a:prstGeom>
          <a:solidFill>
            <a:srgbClr val="EFF6F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8" name="Google Shape;218;p17"/>
          <p:cNvSpPr txBox="1"/>
          <p:nvPr/>
        </p:nvSpPr>
        <p:spPr>
          <a:xfrm>
            <a:off x="762000" y="1344261"/>
            <a:ext cx="5350668" cy="2762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2385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>
                <a:solidFill>
                  <a:srgbClr val="2563EB"/>
                </a:solidFill>
                <a:latin typeface="Arial"/>
                <a:ea typeface="Arial"/>
                <a:cs typeface="Arial"/>
                <a:sym typeface="Arial"/>
              </a:rPr>
              <a:t>Key Performance Indicators</a:t>
            </a:r>
            <a:endParaRPr/>
          </a:p>
        </p:txBody>
      </p:sp>
      <p:sp>
        <p:nvSpPr>
          <p:cNvPr id="219" name="Google Shape;219;p17"/>
          <p:cNvSpPr txBox="1"/>
          <p:nvPr/>
        </p:nvSpPr>
        <p:spPr>
          <a:xfrm>
            <a:off x="762000" y="3047061"/>
            <a:ext cx="5350668" cy="2762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52425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>
                <a:solidFill>
                  <a:srgbClr val="2563EB"/>
                </a:solidFill>
                <a:latin typeface="Arial"/>
                <a:ea typeface="Arial"/>
                <a:cs typeface="Arial"/>
                <a:sym typeface="Arial"/>
              </a:rPr>
              <a:t>Visual Analytics</a:t>
            </a:r>
            <a:endParaRPr/>
          </a:p>
        </p:txBody>
      </p:sp>
      <p:sp>
        <p:nvSpPr>
          <p:cNvPr id="220" name="Google Shape;220;p17"/>
          <p:cNvSpPr txBox="1"/>
          <p:nvPr/>
        </p:nvSpPr>
        <p:spPr>
          <a:xfrm>
            <a:off x="762000" y="4849984"/>
            <a:ext cx="5350668" cy="2762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2385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>
                <a:solidFill>
                  <a:srgbClr val="2563EB"/>
                </a:solidFill>
                <a:latin typeface="Arial"/>
                <a:ea typeface="Arial"/>
                <a:cs typeface="Arial"/>
                <a:sym typeface="Arial"/>
              </a:rPr>
              <a:t>Interactive Controls</a:t>
            </a:r>
            <a:endParaRPr/>
          </a:p>
        </p:txBody>
      </p:sp>
      <p:pic>
        <p:nvPicPr>
          <p:cNvPr id="222" name="Google Shape;222;p17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62000" y="1363311"/>
            <a:ext cx="228600" cy="228600"/>
          </a:xfrm>
          <a:prstGeom prst="rect">
            <a:avLst/>
          </a:prstGeom>
          <a:noFill/>
          <a:ln>
            <a:noFill/>
          </a:ln>
        </p:spPr>
      </p:pic>
      <p:sp>
        <p:nvSpPr>
          <p:cNvPr id="223" name="Google Shape;223;p17"/>
          <p:cNvSpPr txBox="1"/>
          <p:nvPr/>
        </p:nvSpPr>
        <p:spPr>
          <a:xfrm>
            <a:off x="1028700" y="1690791"/>
            <a:ext cx="4829175" cy="274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Total Students, Passed, and Failed Counts</a:t>
            </a:r>
            <a:endParaRPr/>
          </a:p>
        </p:txBody>
      </p:sp>
      <p:sp>
        <p:nvSpPr>
          <p:cNvPr id="224" name="Google Shape;224;p17"/>
          <p:cNvSpPr txBox="1"/>
          <p:nvPr/>
        </p:nvSpPr>
        <p:spPr>
          <a:xfrm>
            <a:off x="1028700" y="2079381"/>
            <a:ext cx="4829175" cy="274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1st Rank Overall Student Spotlight</a:t>
            </a:r>
            <a:endParaRPr/>
          </a:p>
        </p:txBody>
      </p:sp>
      <p:sp>
        <p:nvSpPr>
          <p:cNvPr id="225" name="Google Shape;225;p17"/>
          <p:cNvSpPr txBox="1"/>
          <p:nvPr/>
        </p:nvSpPr>
        <p:spPr>
          <a:xfrm>
            <a:off x="1028700" y="2467971"/>
            <a:ext cx="4829175" cy="274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Average Marks Obtained per Subject Summary</a:t>
            </a:r>
            <a:endParaRPr/>
          </a:p>
        </p:txBody>
      </p:sp>
      <p:pic>
        <p:nvPicPr>
          <p:cNvPr id="226" name="Google Shape;226;p17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762000" y="3066111"/>
            <a:ext cx="257175" cy="228600"/>
          </a:xfrm>
          <a:prstGeom prst="rect">
            <a:avLst/>
          </a:prstGeom>
          <a:noFill/>
          <a:ln>
            <a:noFill/>
          </a:ln>
        </p:spPr>
      </p:pic>
      <p:sp>
        <p:nvSpPr>
          <p:cNvPr id="227" name="Google Shape;227;p17"/>
          <p:cNvSpPr txBox="1"/>
          <p:nvPr/>
        </p:nvSpPr>
        <p:spPr>
          <a:xfrm>
            <a:off x="1028700" y="3466161"/>
            <a:ext cx="4829175" cy="274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Doughnut/Pie:</a:t>
            </a:r>
            <a:r>
              <a:rPr lang="en-US" sz="1350" b="0" i="0" u="none" strike="noStrike" cap="non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 Grade Distribution by Gender &amp; Overall</a:t>
            </a:r>
            <a:endParaRPr/>
          </a:p>
        </p:txBody>
      </p:sp>
      <p:sp>
        <p:nvSpPr>
          <p:cNvPr id="228" name="Google Shape;228;p17"/>
          <p:cNvSpPr txBox="1"/>
          <p:nvPr/>
        </p:nvSpPr>
        <p:spPr>
          <a:xfrm>
            <a:off x="1028700" y="3854751"/>
            <a:ext cx="4829175" cy="5485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Column Charts:</a:t>
            </a:r>
            <a:r>
              <a:rPr lang="en-US" sz="1350" b="0" i="0" u="none" strike="noStrike" cap="non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 Grade Count by Stream &amp; Subject Averages</a:t>
            </a:r>
            <a:endParaRPr/>
          </a:p>
        </p:txBody>
      </p:sp>
      <p:sp>
        <p:nvSpPr>
          <p:cNvPr id="229" name="Google Shape;229;p17"/>
          <p:cNvSpPr txBox="1"/>
          <p:nvPr/>
        </p:nvSpPr>
        <p:spPr>
          <a:xfrm>
            <a:off x="1028700" y="4270894"/>
            <a:ext cx="4829175" cy="274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Funnel Chart:</a:t>
            </a:r>
            <a:r>
              <a:rPr lang="en-US" sz="1350" b="0" i="0" u="none" strike="noStrike" cap="non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 Top 10 Performing Students</a:t>
            </a:r>
            <a:endParaRPr/>
          </a:p>
        </p:txBody>
      </p:sp>
      <p:pic>
        <p:nvPicPr>
          <p:cNvPr id="230" name="Google Shape;230;p17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762000" y="4825492"/>
            <a:ext cx="228600" cy="228600"/>
          </a:xfrm>
          <a:prstGeom prst="rect">
            <a:avLst/>
          </a:prstGeom>
          <a:noFill/>
          <a:ln>
            <a:noFill/>
          </a:ln>
        </p:spPr>
      </p:pic>
      <p:sp>
        <p:nvSpPr>
          <p:cNvPr id="231" name="Google Shape;231;p17"/>
          <p:cNvSpPr txBox="1"/>
          <p:nvPr/>
        </p:nvSpPr>
        <p:spPr>
          <a:xfrm>
            <a:off x="1028700" y="5152972"/>
            <a:ext cx="4829175" cy="274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 dirty="0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Slicers for Gender, Stream, and Grade filtering</a:t>
            </a:r>
            <a:endParaRPr dirty="0"/>
          </a:p>
        </p:txBody>
      </p:sp>
      <p:sp>
        <p:nvSpPr>
          <p:cNvPr id="232" name="Google Shape;232;p17"/>
          <p:cNvSpPr txBox="1"/>
          <p:nvPr/>
        </p:nvSpPr>
        <p:spPr>
          <a:xfrm>
            <a:off x="1028700" y="5527048"/>
            <a:ext cx="4829175" cy="5485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 dirty="0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Built-in navigation buttons (Raw Data, Clean Data, Report Card)</a:t>
            </a:r>
            <a:endParaRPr dirty="0"/>
          </a:p>
        </p:txBody>
      </p:sp>
      <p:sp>
        <p:nvSpPr>
          <p:cNvPr id="233" name="Google Shape;233;p17"/>
          <p:cNvSpPr txBox="1"/>
          <p:nvPr/>
        </p:nvSpPr>
        <p:spPr>
          <a:xfrm>
            <a:off x="5707750" y="5554924"/>
            <a:ext cx="4676775" cy="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12395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 dirty="0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 Interaction: Slicers update every Pivot Table and Pivot Chart dynamically, granting instantaneous data insights.</a:t>
            </a:r>
            <a:endParaRPr dirty="0"/>
          </a:p>
        </p:txBody>
      </p:sp>
      <p:pic>
        <p:nvPicPr>
          <p:cNvPr id="234" name="Google Shape;234;p17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809625" y="1825047"/>
            <a:ext cx="76200" cy="76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35" name="Google Shape;235;p17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809625" y="2228151"/>
            <a:ext cx="76200" cy="76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36" name="Google Shape;236;p17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809625" y="2587713"/>
            <a:ext cx="76200" cy="76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37" name="Google Shape;237;p17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809625" y="3629445"/>
            <a:ext cx="76200" cy="76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38" name="Google Shape;238;p17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809625" y="4003521"/>
            <a:ext cx="76200" cy="76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39" name="Google Shape;239;p17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809625" y="4376122"/>
            <a:ext cx="76200" cy="76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0" name="Google Shape;240;p17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809625" y="5301742"/>
            <a:ext cx="76200" cy="76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1" name="Google Shape;241;p17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809625" y="5690332"/>
            <a:ext cx="76200" cy="76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2" name="Google Shape;242;p17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6651174" y="5662204"/>
            <a:ext cx="133350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EB0C01A5-0A9D-FE07-D3EA-79D98D4388CD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857875" y="1705457"/>
            <a:ext cx="5960225" cy="307381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18"/>
          <p:cNvSpPr txBox="1"/>
          <p:nvPr/>
        </p:nvSpPr>
        <p:spPr>
          <a:xfrm>
            <a:off x="762000" y="571500"/>
            <a:ext cx="11201400" cy="514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50" b="1" i="0" u="none" strike="noStrike" cap="non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Dynamic Report Card Module</a:t>
            </a:r>
            <a:endParaRPr/>
          </a:p>
        </p:txBody>
      </p:sp>
      <p:sp>
        <p:nvSpPr>
          <p:cNvPr id="249" name="Google Shape;249;p18"/>
          <p:cNvSpPr/>
          <p:nvPr/>
        </p:nvSpPr>
        <p:spPr>
          <a:xfrm>
            <a:off x="762000" y="1200150"/>
            <a:ext cx="10668000" cy="28575"/>
          </a:xfrm>
          <a:prstGeom prst="rect">
            <a:avLst/>
          </a:prstGeom>
          <a:solidFill>
            <a:srgbClr val="EFF6F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0" name="Google Shape;250;p18"/>
          <p:cNvSpPr txBox="1"/>
          <p:nvPr/>
        </p:nvSpPr>
        <p:spPr>
          <a:xfrm>
            <a:off x="762000" y="1711326"/>
            <a:ext cx="5350668" cy="2762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52425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>
                <a:solidFill>
                  <a:srgbClr val="2563EB"/>
                </a:solidFill>
                <a:latin typeface="Arial"/>
                <a:ea typeface="Arial"/>
                <a:cs typeface="Arial"/>
                <a:sym typeface="Arial"/>
              </a:rPr>
              <a:t>Automated Student Profiles</a:t>
            </a:r>
            <a:endParaRPr/>
          </a:p>
        </p:txBody>
      </p:sp>
      <p:sp>
        <p:nvSpPr>
          <p:cNvPr id="251" name="Google Shape;251;p18"/>
          <p:cNvSpPr txBox="1"/>
          <p:nvPr/>
        </p:nvSpPr>
        <p:spPr>
          <a:xfrm>
            <a:off x="762000" y="2130426"/>
            <a:ext cx="5095875" cy="8228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 dirty="0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The Report Card module serves as a deep dive into individual student performance, generated completely autonomously via dashboard interactions.</a:t>
            </a:r>
            <a:endParaRPr dirty="0"/>
          </a:p>
        </p:txBody>
      </p:sp>
      <p:pic>
        <p:nvPicPr>
          <p:cNvPr id="254" name="Google Shape;254;p18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62000" y="1730376"/>
            <a:ext cx="257175" cy="228600"/>
          </a:xfrm>
          <a:prstGeom prst="rect">
            <a:avLst/>
          </a:prstGeom>
          <a:noFill/>
          <a:ln>
            <a:noFill/>
          </a:ln>
        </p:spPr>
      </p:pic>
      <p:sp>
        <p:nvSpPr>
          <p:cNvPr id="255" name="Google Shape;255;p18"/>
          <p:cNvSpPr txBox="1"/>
          <p:nvPr/>
        </p:nvSpPr>
        <p:spPr>
          <a:xfrm>
            <a:off x="1028700" y="3122934"/>
            <a:ext cx="4829175" cy="5485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 dirty="0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Dynamic Selection:</a:t>
            </a:r>
            <a:r>
              <a:rPr lang="en-US" sz="1350" b="0" i="0" u="none" strike="noStrike" cap="none" dirty="0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 Students are selected instantly using a connected slicer UI.</a:t>
            </a:r>
            <a:endParaRPr dirty="0"/>
          </a:p>
        </p:txBody>
      </p:sp>
      <p:sp>
        <p:nvSpPr>
          <p:cNvPr id="256" name="Google Shape;256;p18"/>
          <p:cNvSpPr txBox="1"/>
          <p:nvPr/>
        </p:nvSpPr>
        <p:spPr>
          <a:xfrm>
            <a:off x="1028700" y="3727759"/>
            <a:ext cx="4829175" cy="5485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Comprehensive Display:</a:t>
            </a:r>
            <a:r>
              <a:rPr lang="en-US" sz="1350" b="0" i="0" u="none" strike="noStrike" cap="non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 Automatically retrieves Name, ID, Percentage, Rank, Grade, Remarks, Stream, and Section.</a:t>
            </a:r>
            <a:endParaRPr/>
          </a:p>
        </p:txBody>
      </p:sp>
      <p:sp>
        <p:nvSpPr>
          <p:cNvPr id="257" name="Google Shape;257;p18"/>
          <p:cNvSpPr txBox="1"/>
          <p:nvPr/>
        </p:nvSpPr>
        <p:spPr>
          <a:xfrm>
            <a:off x="1028700" y="4332583"/>
            <a:ext cx="4829175" cy="5485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 dirty="0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Subject Breakdown:</a:t>
            </a:r>
            <a:r>
              <a:rPr lang="en-US" sz="1350" b="0" i="0" u="none" strike="noStrike" cap="none" dirty="0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 Displays exact scores for all enrolled subjects side-by-side.</a:t>
            </a:r>
            <a:endParaRPr dirty="0"/>
          </a:p>
        </p:txBody>
      </p:sp>
      <p:pic>
        <p:nvPicPr>
          <p:cNvPr id="262" name="Google Shape;262;p18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09625" y="3257190"/>
            <a:ext cx="76200" cy="76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63" name="Google Shape;263;p18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09625" y="3803959"/>
            <a:ext cx="76200" cy="76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64" name="Google Shape;264;p18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09625" y="4466839"/>
            <a:ext cx="76200" cy="76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0C7ECD33-A537-ADB7-C5D8-5D461FCD726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57876" y="1578887"/>
            <a:ext cx="5993038" cy="356636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2" name="Google Shape;272;p19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62000" y="1609725"/>
            <a:ext cx="2524125" cy="5905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73" name="Google Shape;273;p19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3476625" y="1609725"/>
            <a:ext cx="2524125" cy="5905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74" name="Google Shape;274;p19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191250" y="1609725"/>
            <a:ext cx="2524125" cy="5905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75" name="Google Shape;275;p19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8905875" y="1609725"/>
            <a:ext cx="2524125" cy="5905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76" name="Google Shape;276;p19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762000" y="2390775"/>
            <a:ext cx="2524125" cy="5905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77" name="Google Shape;277;p19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3476625" y="2390775"/>
            <a:ext cx="2524125" cy="5905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78" name="Google Shape;278;p19" descr="image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6191250" y="2390775"/>
            <a:ext cx="2524125" cy="5905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79" name="Google Shape;279;p19" descr="image.png"/>
          <p:cNvPicPr preferRelativeResize="0"/>
          <p:nvPr/>
        </p:nvPicPr>
        <p:blipFill rotWithShape="1">
          <a:blip r:embed="rId10">
            <a:alphaModFix/>
          </a:blip>
          <a:srcRect/>
          <a:stretch/>
        </p:blipFill>
        <p:spPr>
          <a:xfrm>
            <a:off x="8905875" y="2390775"/>
            <a:ext cx="2524125" cy="5905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80" name="Google Shape;280;p19" descr="image.png"/>
          <p:cNvPicPr preferRelativeResize="0"/>
          <p:nvPr/>
        </p:nvPicPr>
        <p:blipFill rotWithShape="1">
          <a:blip r:embed="rId11">
            <a:alphaModFix/>
          </a:blip>
          <a:srcRect/>
          <a:stretch/>
        </p:blipFill>
        <p:spPr>
          <a:xfrm>
            <a:off x="762000" y="3171825"/>
            <a:ext cx="2524125" cy="5905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81" name="Google Shape;281;p19" descr="image.png"/>
          <p:cNvPicPr preferRelativeResize="0"/>
          <p:nvPr/>
        </p:nvPicPr>
        <p:blipFill rotWithShape="1">
          <a:blip r:embed="rId12">
            <a:alphaModFix/>
          </a:blip>
          <a:srcRect/>
          <a:stretch/>
        </p:blipFill>
        <p:spPr>
          <a:xfrm>
            <a:off x="3476625" y="3171825"/>
            <a:ext cx="2524125" cy="5905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82" name="Google Shape;282;p19" descr="image.png"/>
          <p:cNvPicPr preferRelativeResize="0"/>
          <p:nvPr/>
        </p:nvPicPr>
        <p:blipFill rotWithShape="1">
          <a:blip r:embed="rId13">
            <a:alphaModFix/>
          </a:blip>
          <a:srcRect/>
          <a:stretch/>
        </p:blipFill>
        <p:spPr>
          <a:xfrm>
            <a:off x="6191250" y="3171825"/>
            <a:ext cx="2524125" cy="5905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83" name="Google Shape;283;p19" descr="image.png"/>
          <p:cNvPicPr preferRelativeResize="0"/>
          <p:nvPr/>
        </p:nvPicPr>
        <p:blipFill rotWithShape="1">
          <a:blip r:embed="rId14">
            <a:alphaModFix/>
          </a:blip>
          <a:srcRect/>
          <a:stretch/>
        </p:blipFill>
        <p:spPr>
          <a:xfrm>
            <a:off x="8905875" y="3171825"/>
            <a:ext cx="2524125" cy="5905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84" name="Google Shape;284;p19" descr="image.png"/>
          <p:cNvPicPr preferRelativeResize="0"/>
          <p:nvPr/>
        </p:nvPicPr>
        <p:blipFill rotWithShape="1">
          <a:blip r:embed="rId15">
            <a:alphaModFix/>
          </a:blip>
          <a:srcRect/>
          <a:stretch/>
        </p:blipFill>
        <p:spPr>
          <a:xfrm>
            <a:off x="762000" y="3952875"/>
            <a:ext cx="2524125" cy="5905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85" name="Google Shape;285;p19" descr="image.png"/>
          <p:cNvPicPr preferRelativeResize="0"/>
          <p:nvPr/>
        </p:nvPicPr>
        <p:blipFill rotWithShape="1">
          <a:blip r:embed="rId16">
            <a:alphaModFix/>
          </a:blip>
          <a:srcRect/>
          <a:stretch/>
        </p:blipFill>
        <p:spPr>
          <a:xfrm>
            <a:off x="3476625" y="3952875"/>
            <a:ext cx="2524125" cy="5905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86" name="Google Shape;286;p19" descr="image.png"/>
          <p:cNvPicPr preferRelativeResize="0"/>
          <p:nvPr/>
        </p:nvPicPr>
        <p:blipFill rotWithShape="1">
          <a:blip r:embed="rId17">
            <a:alphaModFix/>
          </a:blip>
          <a:srcRect/>
          <a:stretch/>
        </p:blipFill>
        <p:spPr>
          <a:xfrm>
            <a:off x="6191250" y="3952875"/>
            <a:ext cx="2524125" cy="5905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87" name="Google Shape;287;p19" descr="image.png"/>
          <p:cNvPicPr preferRelativeResize="0"/>
          <p:nvPr/>
        </p:nvPicPr>
        <p:blipFill rotWithShape="1">
          <a:blip r:embed="rId18">
            <a:alphaModFix/>
          </a:blip>
          <a:srcRect/>
          <a:stretch/>
        </p:blipFill>
        <p:spPr>
          <a:xfrm>
            <a:off x="8905875" y="3952875"/>
            <a:ext cx="2524125" cy="590550"/>
          </a:xfrm>
          <a:prstGeom prst="rect">
            <a:avLst/>
          </a:prstGeom>
          <a:noFill/>
          <a:ln>
            <a:noFill/>
          </a:ln>
        </p:spPr>
      </p:pic>
      <p:sp>
        <p:nvSpPr>
          <p:cNvPr id="288" name="Google Shape;288;p19"/>
          <p:cNvSpPr txBox="1"/>
          <p:nvPr/>
        </p:nvSpPr>
        <p:spPr>
          <a:xfrm>
            <a:off x="762000" y="571500"/>
            <a:ext cx="11201400" cy="514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50" b="1" i="0" u="none" strike="noStrike" cap="non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Tools &amp; Technologies</a:t>
            </a:r>
            <a:endParaRPr/>
          </a:p>
        </p:txBody>
      </p:sp>
      <p:sp>
        <p:nvSpPr>
          <p:cNvPr id="289" name="Google Shape;289;p19"/>
          <p:cNvSpPr/>
          <p:nvPr/>
        </p:nvSpPr>
        <p:spPr>
          <a:xfrm>
            <a:off x="762000" y="1200150"/>
            <a:ext cx="10668000" cy="28575"/>
          </a:xfrm>
          <a:prstGeom prst="rect">
            <a:avLst/>
          </a:prstGeom>
          <a:solidFill>
            <a:srgbClr val="EFF6F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90" name="Google Shape;290;p19" descr="image.png"/>
          <p:cNvPicPr preferRelativeResize="0"/>
          <p:nvPr/>
        </p:nvPicPr>
        <p:blipFill rotWithShape="1">
          <a:blip r:embed="rId19">
            <a:alphaModFix/>
          </a:blip>
          <a:srcRect/>
          <a:stretch/>
        </p:blipFill>
        <p:spPr>
          <a:xfrm>
            <a:off x="942975" y="1809750"/>
            <a:ext cx="228600" cy="190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91" name="Google Shape;291;p19" descr="image.png"/>
          <p:cNvPicPr preferRelativeResize="0"/>
          <p:nvPr/>
        </p:nvPicPr>
        <p:blipFill rotWithShape="1">
          <a:blip r:embed="rId20">
            <a:alphaModFix/>
          </a:blip>
          <a:srcRect/>
          <a:stretch/>
        </p:blipFill>
        <p:spPr>
          <a:xfrm>
            <a:off x="3657600" y="1809750"/>
            <a:ext cx="228600" cy="190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92" name="Google Shape;292;p19" descr="image.png"/>
          <p:cNvPicPr preferRelativeResize="0"/>
          <p:nvPr/>
        </p:nvPicPr>
        <p:blipFill rotWithShape="1">
          <a:blip r:embed="rId21">
            <a:alphaModFix/>
          </a:blip>
          <a:srcRect/>
          <a:stretch/>
        </p:blipFill>
        <p:spPr>
          <a:xfrm>
            <a:off x="6372225" y="1809750"/>
            <a:ext cx="228600" cy="190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93" name="Google Shape;293;p19" descr="image.png"/>
          <p:cNvPicPr preferRelativeResize="0"/>
          <p:nvPr/>
        </p:nvPicPr>
        <p:blipFill rotWithShape="1">
          <a:blip r:embed="rId22">
            <a:alphaModFix/>
          </a:blip>
          <a:srcRect/>
          <a:stretch/>
        </p:blipFill>
        <p:spPr>
          <a:xfrm>
            <a:off x="9086850" y="1809750"/>
            <a:ext cx="228600" cy="190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94" name="Google Shape;294;p19" descr="image.png"/>
          <p:cNvPicPr preferRelativeResize="0"/>
          <p:nvPr/>
        </p:nvPicPr>
        <p:blipFill rotWithShape="1">
          <a:blip r:embed="rId23">
            <a:alphaModFix/>
          </a:blip>
          <a:srcRect/>
          <a:stretch/>
        </p:blipFill>
        <p:spPr>
          <a:xfrm>
            <a:off x="942975" y="2590800"/>
            <a:ext cx="228600" cy="190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95" name="Google Shape;295;p19" descr="image.png"/>
          <p:cNvPicPr preferRelativeResize="0"/>
          <p:nvPr/>
        </p:nvPicPr>
        <p:blipFill rotWithShape="1">
          <a:blip r:embed="rId24">
            <a:alphaModFix/>
          </a:blip>
          <a:srcRect/>
          <a:stretch/>
        </p:blipFill>
        <p:spPr>
          <a:xfrm>
            <a:off x="3657600" y="2590800"/>
            <a:ext cx="228600" cy="190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96" name="Google Shape;296;p19" descr="image.png"/>
          <p:cNvPicPr preferRelativeResize="0"/>
          <p:nvPr/>
        </p:nvPicPr>
        <p:blipFill rotWithShape="1">
          <a:blip r:embed="rId25">
            <a:alphaModFix/>
          </a:blip>
          <a:srcRect/>
          <a:stretch/>
        </p:blipFill>
        <p:spPr>
          <a:xfrm>
            <a:off x="6372225" y="2590800"/>
            <a:ext cx="228600" cy="190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97" name="Google Shape;297;p19" descr="image.png"/>
          <p:cNvPicPr preferRelativeResize="0"/>
          <p:nvPr/>
        </p:nvPicPr>
        <p:blipFill rotWithShape="1">
          <a:blip r:embed="rId26">
            <a:alphaModFix/>
          </a:blip>
          <a:srcRect/>
          <a:stretch/>
        </p:blipFill>
        <p:spPr>
          <a:xfrm>
            <a:off x="9086850" y="2590800"/>
            <a:ext cx="228600" cy="190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98" name="Google Shape;298;p19" descr="image.png"/>
          <p:cNvPicPr preferRelativeResize="0"/>
          <p:nvPr/>
        </p:nvPicPr>
        <p:blipFill rotWithShape="1">
          <a:blip r:embed="rId27">
            <a:alphaModFix/>
          </a:blip>
          <a:srcRect/>
          <a:stretch/>
        </p:blipFill>
        <p:spPr>
          <a:xfrm>
            <a:off x="942975" y="3371850"/>
            <a:ext cx="228600" cy="190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99" name="Google Shape;299;p19" descr="image.png"/>
          <p:cNvPicPr preferRelativeResize="0"/>
          <p:nvPr/>
        </p:nvPicPr>
        <p:blipFill rotWithShape="1">
          <a:blip r:embed="rId27">
            <a:alphaModFix/>
          </a:blip>
          <a:srcRect/>
          <a:stretch/>
        </p:blipFill>
        <p:spPr>
          <a:xfrm>
            <a:off x="3657600" y="3371850"/>
            <a:ext cx="228600" cy="190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00" name="Google Shape;300;p19" descr="image.png"/>
          <p:cNvPicPr preferRelativeResize="0"/>
          <p:nvPr/>
        </p:nvPicPr>
        <p:blipFill rotWithShape="1">
          <a:blip r:embed="rId27">
            <a:alphaModFix/>
          </a:blip>
          <a:srcRect/>
          <a:stretch/>
        </p:blipFill>
        <p:spPr>
          <a:xfrm>
            <a:off x="6372225" y="3371850"/>
            <a:ext cx="228600" cy="190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01" name="Google Shape;301;p19" descr="image.png"/>
          <p:cNvPicPr preferRelativeResize="0"/>
          <p:nvPr/>
        </p:nvPicPr>
        <p:blipFill rotWithShape="1">
          <a:blip r:embed="rId27">
            <a:alphaModFix/>
          </a:blip>
          <a:srcRect/>
          <a:stretch/>
        </p:blipFill>
        <p:spPr>
          <a:xfrm>
            <a:off x="9086850" y="3371850"/>
            <a:ext cx="228600" cy="190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02" name="Google Shape;302;p19" descr="image.png"/>
          <p:cNvPicPr preferRelativeResize="0"/>
          <p:nvPr/>
        </p:nvPicPr>
        <p:blipFill rotWithShape="1">
          <a:blip r:embed="rId28">
            <a:alphaModFix/>
          </a:blip>
          <a:srcRect/>
          <a:stretch/>
        </p:blipFill>
        <p:spPr>
          <a:xfrm>
            <a:off x="942975" y="4152900"/>
            <a:ext cx="228600" cy="190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03" name="Google Shape;303;p19" descr="image.png"/>
          <p:cNvPicPr preferRelativeResize="0"/>
          <p:nvPr/>
        </p:nvPicPr>
        <p:blipFill rotWithShape="1">
          <a:blip r:embed="rId28">
            <a:alphaModFix/>
          </a:blip>
          <a:srcRect/>
          <a:stretch/>
        </p:blipFill>
        <p:spPr>
          <a:xfrm>
            <a:off x="3657600" y="4152900"/>
            <a:ext cx="228600" cy="190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04" name="Google Shape;304;p19" descr="image.png"/>
          <p:cNvPicPr preferRelativeResize="0"/>
          <p:nvPr/>
        </p:nvPicPr>
        <p:blipFill rotWithShape="1">
          <a:blip r:embed="rId29">
            <a:alphaModFix/>
          </a:blip>
          <a:srcRect/>
          <a:stretch/>
        </p:blipFill>
        <p:spPr>
          <a:xfrm>
            <a:off x="6372225" y="4152900"/>
            <a:ext cx="228600" cy="190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05" name="Google Shape;305;p19" descr="image.png"/>
          <p:cNvPicPr preferRelativeResize="0"/>
          <p:nvPr/>
        </p:nvPicPr>
        <p:blipFill rotWithShape="1">
          <a:blip r:embed="rId30">
            <a:alphaModFix/>
          </a:blip>
          <a:srcRect/>
          <a:stretch/>
        </p:blipFill>
        <p:spPr>
          <a:xfrm>
            <a:off x="9086850" y="4152900"/>
            <a:ext cx="228600" cy="190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0" name="Google Shape;310;p20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62000" y="1609725"/>
            <a:ext cx="2524125" cy="1038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311" name="Google Shape;311;p20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3476625" y="1609725"/>
            <a:ext cx="2524125" cy="1038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312" name="Google Shape;312;p20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191250" y="1609725"/>
            <a:ext cx="2524125" cy="1038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313" name="Google Shape;313;p20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8905875" y="1609725"/>
            <a:ext cx="2524125" cy="1038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314" name="Google Shape;314;p20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762000" y="2933700"/>
            <a:ext cx="5191125" cy="3499246"/>
          </a:xfrm>
          <a:prstGeom prst="rect">
            <a:avLst/>
          </a:prstGeom>
          <a:noFill/>
          <a:ln>
            <a:noFill/>
          </a:ln>
        </p:spPr>
      </p:pic>
      <p:pic>
        <p:nvPicPr>
          <p:cNvPr id="315" name="Google Shape;315;p20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6238875" y="2933700"/>
            <a:ext cx="5191125" cy="3499246"/>
          </a:xfrm>
          <a:prstGeom prst="rect">
            <a:avLst/>
          </a:prstGeom>
          <a:noFill/>
          <a:ln>
            <a:noFill/>
          </a:ln>
        </p:spPr>
      </p:pic>
      <p:sp>
        <p:nvSpPr>
          <p:cNvPr id="316" name="Google Shape;316;p20"/>
          <p:cNvSpPr txBox="1"/>
          <p:nvPr/>
        </p:nvSpPr>
        <p:spPr>
          <a:xfrm>
            <a:off x="762000" y="571500"/>
            <a:ext cx="11201400" cy="514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50" b="1" i="0" u="none" strike="noStrike" cap="non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Key Findings &amp; Insights</a:t>
            </a:r>
            <a:endParaRPr/>
          </a:p>
        </p:txBody>
      </p:sp>
      <p:sp>
        <p:nvSpPr>
          <p:cNvPr id="317" name="Google Shape;317;p20"/>
          <p:cNvSpPr/>
          <p:nvPr/>
        </p:nvSpPr>
        <p:spPr>
          <a:xfrm>
            <a:off x="762000" y="1200150"/>
            <a:ext cx="10668000" cy="28575"/>
          </a:xfrm>
          <a:prstGeom prst="rect">
            <a:avLst/>
          </a:prstGeom>
          <a:solidFill>
            <a:srgbClr val="EFF6F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8" name="Google Shape;318;p20"/>
          <p:cNvSpPr txBox="1"/>
          <p:nvPr/>
        </p:nvSpPr>
        <p:spPr>
          <a:xfrm>
            <a:off x="962025" y="1838325"/>
            <a:ext cx="2124075" cy="4847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50" b="0" i="0" u="none" strike="noStrike" cap="none" dirty="0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50</a:t>
            </a:r>
            <a:endParaRPr dirty="0"/>
          </a:p>
        </p:txBody>
      </p:sp>
      <p:sp>
        <p:nvSpPr>
          <p:cNvPr id="319" name="Google Shape;319;p20"/>
          <p:cNvSpPr txBox="1"/>
          <p:nvPr/>
        </p:nvSpPr>
        <p:spPr>
          <a:xfrm>
            <a:off x="962025" y="2286000"/>
            <a:ext cx="2124075" cy="1619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TOTAL STUDENTS ANALYZED</a:t>
            </a:r>
            <a:endParaRPr/>
          </a:p>
        </p:txBody>
      </p:sp>
      <p:sp>
        <p:nvSpPr>
          <p:cNvPr id="320" name="Google Shape;320;p20"/>
          <p:cNvSpPr txBox="1"/>
          <p:nvPr/>
        </p:nvSpPr>
        <p:spPr>
          <a:xfrm>
            <a:off x="3676650" y="1838325"/>
            <a:ext cx="2124075" cy="4847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50" b="0" i="0" u="none" strike="noStrike" cap="none" dirty="0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  <a:endParaRPr dirty="0"/>
          </a:p>
        </p:txBody>
      </p:sp>
      <p:sp>
        <p:nvSpPr>
          <p:cNvPr id="321" name="Google Shape;321;p20"/>
          <p:cNvSpPr txBox="1"/>
          <p:nvPr/>
        </p:nvSpPr>
        <p:spPr>
          <a:xfrm>
            <a:off x="3676650" y="2286000"/>
            <a:ext cx="2124075" cy="1619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OVERALL PASS RATE</a:t>
            </a:r>
            <a:endParaRPr/>
          </a:p>
        </p:txBody>
      </p:sp>
      <p:sp>
        <p:nvSpPr>
          <p:cNvPr id="322" name="Google Shape;322;p20"/>
          <p:cNvSpPr txBox="1"/>
          <p:nvPr/>
        </p:nvSpPr>
        <p:spPr>
          <a:xfrm>
            <a:off x="6391275" y="1838325"/>
            <a:ext cx="2124075" cy="4847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50">
                <a:solidFill>
                  <a:srgbClr val="0F172A"/>
                </a:solidFill>
              </a:rPr>
              <a:t>20</a:t>
            </a:r>
            <a:r>
              <a:rPr lang="en-US" sz="3150" b="0" i="0" u="none" strike="noStrike" cap="non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%</a:t>
            </a:r>
            <a:endParaRPr/>
          </a:p>
        </p:txBody>
      </p:sp>
      <p:sp>
        <p:nvSpPr>
          <p:cNvPr id="323" name="Google Shape;323;p20"/>
          <p:cNvSpPr txBox="1"/>
          <p:nvPr/>
        </p:nvSpPr>
        <p:spPr>
          <a:xfrm>
            <a:off x="6391275" y="2286000"/>
            <a:ext cx="2124075" cy="1619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OVERALL FAIL RATE</a:t>
            </a:r>
            <a:endParaRPr/>
          </a:p>
        </p:txBody>
      </p:sp>
      <p:sp>
        <p:nvSpPr>
          <p:cNvPr id="324" name="Google Shape;324;p20"/>
          <p:cNvSpPr txBox="1"/>
          <p:nvPr/>
        </p:nvSpPr>
        <p:spPr>
          <a:xfrm>
            <a:off x="9105900" y="1914525"/>
            <a:ext cx="2124075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Kumari N.</a:t>
            </a:r>
            <a:endParaRPr/>
          </a:p>
        </p:txBody>
      </p:sp>
      <p:sp>
        <p:nvSpPr>
          <p:cNvPr id="325" name="Google Shape;325;p20"/>
          <p:cNvSpPr txBox="1"/>
          <p:nvPr/>
        </p:nvSpPr>
        <p:spPr>
          <a:xfrm>
            <a:off x="9105900" y="2286000"/>
            <a:ext cx="2124075" cy="1619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OVERALL TOP RANK</a:t>
            </a:r>
            <a:endParaRPr/>
          </a:p>
        </p:txBody>
      </p:sp>
      <p:sp>
        <p:nvSpPr>
          <p:cNvPr id="326" name="Google Shape;326;p20"/>
          <p:cNvSpPr txBox="1"/>
          <p:nvPr/>
        </p:nvSpPr>
        <p:spPr>
          <a:xfrm>
            <a:off x="1057275" y="3228975"/>
            <a:ext cx="4830603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8575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2563EB"/>
                </a:solidFill>
                <a:latin typeface="Arial"/>
                <a:ea typeface="Arial"/>
                <a:cs typeface="Arial"/>
                <a:sym typeface="Arial"/>
              </a:rPr>
              <a:t>Performance Analytics</a:t>
            </a:r>
            <a:endParaRPr/>
          </a:p>
        </p:txBody>
      </p:sp>
      <p:sp>
        <p:nvSpPr>
          <p:cNvPr id="327" name="Google Shape;327;p20"/>
          <p:cNvSpPr txBox="1"/>
          <p:nvPr/>
        </p:nvSpPr>
        <p:spPr>
          <a:xfrm>
            <a:off x="6534150" y="3228975"/>
            <a:ext cx="4830603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8575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2563EB"/>
                </a:solidFill>
                <a:latin typeface="Arial"/>
                <a:ea typeface="Arial"/>
                <a:cs typeface="Arial"/>
                <a:sym typeface="Arial"/>
              </a:rPr>
              <a:t>Business Value</a:t>
            </a:r>
            <a:endParaRPr/>
          </a:p>
        </p:txBody>
      </p:sp>
      <p:pic>
        <p:nvPicPr>
          <p:cNvPr id="328" name="Google Shape;328;p20" descr="image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1057275" y="3248025"/>
            <a:ext cx="190500" cy="190500"/>
          </a:xfrm>
          <a:prstGeom prst="rect">
            <a:avLst/>
          </a:prstGeom>
          <a:noFill/>
          <a:ln>
            <a:noFill/>
          </a:ln>
        </p:spPr>
      </p:pic>
      <p:sp>
        <p:nvSpPr>
          <p:cNvPr id="329" name="Google Shape;329;p20"/>
          <p:cNvSpPr txBox="1"/>
          <p:nvPr/>
        </p:nvSpPr>
        <p:spPr>
          <a:xfrm>
            <a:off x="1323975" y="3600450"/>
            <a:ext cx="4333875" cy="5485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Subject Averages:</a:t>
            </a:r>
            <a:r>
              <a:rPr lang="en-US" sz="1350" b="0" i="0" u="none" strike="noStrike" cap="non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 Clear disparities identified in subject mastery (e.g., Mathematics vs. English).</a:t>
            </a:r>
            <a:endParaRPr/>
          </a:p>
        </p:txBody>
      </p:sp>
      <p:sp>
        <p:nvSpPr>
          <p:cNvPr id="330" name="Google Shape;330;p20"/>
          <p:cNvSpPr txBox="1"/>
          <p:nvPr/>
        </p:nvSpPr>
        <p:spPr>
          <a:xfrm>
            <a:off x="1323975" y="4263330"/>
            <a:ext cx="4333875" cy="8228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Grade Distribution:</a:t>
            </a:r>
            <a:r>
              <a:rPr lang="en-US" sz="1350" b="0" i="0" u="none" strike="noStrike" cap="non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 Visualization reveals the primary concentration of academic results within standard curves.</a:t>
            </a:r>
            <a:endParaRPr/>
          </a:p>
        </p:txBody>
      </p:sp>
      <p:sp>
        <p:nvSpPr>
          <p:cNvPr id="331" name="Google Shape;331;p20"/>
          <p:cNvSpPr txBox="1"/>
          <p:nvPr/>
        </p:nvSpPr>
        <p:spPr>
          <a:xfrm>
            <a:off x="1323975" y="5200501"/>
            <a:ext cx="4333875" cy="8228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Demographic Trends:</a:t>
            </a:r>
            <a:r>
              <a:rPr lang="en-US" sz="1350" b="0" i="0" u="none" strike="noStrike" cap="non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 Gender-wise grade analysis exposes varying academic strengths and weaknesses.</a:t>
            </a:r>
            <a:endParaRPr/>
          </a:p>
        </p:txBody>
      </p:sp>
      <p:pic>
        <p:nvPicPr>
          <p:cNvPr id="332" name="Google Shape;332;p20" descr="image.png"/>
          <p:cNvPicPr preferRelativeResize="0"/>
          <p:nvPr/>
        </p:nvPicPr>
        <p:blipFill rotWithShape="1">
          <a:blip r:embed="rId10">
            <a:alphaModFix/>
          </a:blip>
          <a:srcRect/>
          <a:stretch/>
        </p:blipFill>
        <p:spPr>
          <a:xfrm>
            <a:off x="6534150" y="3248025"/>
            <a:ext cx="190500" cy="190500"/>
          </a:xfrm>
          <a:prstGeom prst="rect">
            <a:avLst/>
          </a:prstGeom>
          <a:noFill/>
          <a:ln>
            <a:noFill/>
          </a:ln>
        </p:spPr>
      </p:pic>
      <p:sp>
        <p:nvSpPr>
          <p:cNvPr id="333" name="Google Shape;333;p20"/>
          <p:cNvSpPr txBox="1"/>
          <p:nvPr/>
        </p:nvSpPr>
        <p:spPr>
          <a:xfrm>
            <a:off x="6800850" y="3600450"/>
            <a:ext cx="4333875" cy="8228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Decision Making:</a:t>
            </a:r>
            <a:r>
              <a:rPr lang="en-US" sz="1350" b="0" i="0" u="none" strike="noStrike" cap="non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 Helps administrators identify underperforming streams instantly to allocate educational resources effectively.</a:t>
            </a:r>
            <a:endParaRPr/>
          </a:p>
        </p:txBody>
      </p:sp>
      <p:sp>
        <p:nvSpPr>
          <p:cNvPr id="334" name="Google Shape;334;p20"/>
          <p:cNvSpPr txBox="1"/>
          <p:nvPr/>
        </p:nvSpPr>
        <p:spPr>
          <a:xfrm>
            <a:off x="6800850" y="4537620"/>
            <a:ext cx="4333875" cy="8228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Reward Systems:</a:t>
            </a:r>
            <a:r>
              <a:rPr lang="en-US" sz="1350" b="0" i="0" u="none" strike="noStrike" cap="non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 Effortlessly extracts the Top 10 performing students for scholarship or recognition programs.</a:t>
            </a:r>
            <a:endParaRPr/>
          </a:p>
        </p:txBody>
      </p:sp>
      <p:sp>
        <p:nvSpPr>
          <p:cNvPr id="335" name="Google Shape;335;p20"/>
          <p:cNvSpPr txBox="1"/>
          <p:nvPr/>
        </p:nvSpPr>
        <p:spPr>
          <a:xfrm>
            <a:off x="6800850" y="5474791"/>
            <a:ext cx="4333875" cy="5485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Efficiency:</a:t>
            </a:r>
            <a:r>
              <a:rPr lang="en-US" sz="1350" b="0" i="0" u="none" strike="noStrike" cap="non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 Replaces hours of manual filtering with instant, click-based interactive reporting.</a:t>
            </a:r>
            <a:endParaRPr/>
          </a:p>
        </p:txBody>
      </p:sp>
      <p:pic>
        <p:nvPicPr>
          <p:cNvPr id="336" name="Google Shape;336;p20" descr="image.png"/>
          <p:cNvPicPr preferRelativeResize="0"/>
          <p:nvPr/>
        </p:nvPicPr>
        <p:blipFill rotWithShape="1">
          <a:blip r:embed="rId11">
            <a:alphaModFix/>
          </a:blip>
          <a:srcRect/>
          <a:stretch/>
        </p:blipFill>
        <p:spPr>
          <a:xfrm>
            <a:off x="1104900" y="3676650"/>
            <a:ext cx="76200" cy="76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37" name="Google Shape;337;p20" descr="image.png"/>
          <p:cNvPicPr preferRelativeResize="0"/>
          <p:nvPr/>
        </p:nvPicPr>
        <p:blipFill rotWithShape="1">
          <a:blip r:embed="rId11">
            <a:alphaModFix/>
          </a:blip>
          <a:srcRect/>
          <a:stretch/>
        </p:blipFill>
        <p:spPr>
          <a:xfrm>
            <a:off x="1104900" y="4339530"/>
            <a:ext cx="76200" cy="76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38" name="Google Shape;338;p20" descr="image.png"/>
          <p:cNvPicPr preferRelativeResize="0"/>
          <p:nvPr/>
        </p:nvPicPr>
        <p:blipFill rotWithShape="1">
          <a:blip r:embed="rId11">
            <a:alphaModFix/>
          </a:blip>
          <a:srcRect/>
          <a:stretch/>
        </p:blipFill>
        <p:spPr>
          <a:xfrm>
            <a:off x="1104900" y="5276701"/>
            <a:ext cx="76200" cy="76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39" name="Google Shape;339;p20" descr="image.png"/>
          <p:cNvPicPr preferRelativeResize="0"/>
          <p:nvPr/>
        </p:nvPicPr>
        <p:blipFill rotWithShape="1">
          <a:blip r:embed="rId11">
            <a:alphaModFix/>
          </a:blip>
          <a:srcRect/>
          <a:stretch/>
        </p:blipFill>
        <p:spPr>
          <a:xfrm>
            <a:off x="6581775" y="3676650"/>
            <a:ext cx="76200" cy="76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40" name="Google Shape;340;p20" descr="image.png"/>
          <p:cNvPicPr preferRelativeResize="0"/>
          <p:nvPr/>
        </p:nvPicPr>
        <p:blipFill rotWithShape="1">
          <a:blip r:embed="rId11">
            <a:alphaModFix/>
          </a:blip>
          <a:srcRect/>
          <a:stretch/>
        </p:blipFill>
        <p:spPr>
          <a:xfrm>
            <a:off x="6581775" y="4613820"/>
            <a:ext cx="76200" cy="76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41" name="Google Shape;341;p20" descr="image.png"/>
          <p:cNvPicPr preferRelativeResize="0"/>
          <p:nvPr/>
        </p:nvPicPr>
        <p:blipFill rotWithShape="1">
          <a:blip r:embed="rId11">
            <a:alphaModFix/>
          </a:blip>
          <a:srcRect/>
          <a:stretch/>
        </p:blipFill>
        <p:spPr>
          <a:xfrm>
            <a:off x="6581775" y="5550991"/>
            <a:ext cx="76200" cy="76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3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6" name="Google Shape;346;p21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381125" y="2605087"/>
            <a:ext cx="1800225" cy="542925"/>
          </a:xfrm>
          <a:prstGeom prst="rect">
            <a:avLst/>
          </a:prstGeom>
          <a:noFill/>
          <a:ln>
            <a:noFill/>
          </a:ln>
        </p:spPr>
      </p:pic>
      <p:pic>
        <p:nvPicPr>
          <p:cNvPr id="347" name="Google Shape;347;p21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3352800" y="2605087"/>
            <a:ext cx="1781175" cy="542925"/>
          </a:xfrm>
          <a:prstGeom prst="rect">
            <a:avLst/>
          </a:prstGeom>
          <a:noFill/>
          <a:ln>
            <a:noFill/>
          </a:ln>
        </p:spPr>
      </p:pic>
      <p:pic>
        <p:nvPicPr>
          <p:cNvPr id="348" name="Google Shape;348;p21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5305425" y="2605087"/>
            <a:ext cx="2133600" cy="542925"/>
          </a:xfrm>
          <a:prstGeom prst="rect">
            <a:avLst/>
          </a:prstGeom>
          <a:noFill/>
          <a:ln>
            <a:noFill/>
          </a:ln>
        </p:spPr>
      </p:pic>
      <p:pic>
        <p:nvPicPr>
          <p:cNvPr id="349" name="Google Shape;349;p21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7610475" y="2605087"/>
            <a:ext cx="3200400" cy="542925"/>
          </a:xfrm>
          <a:prstGeom prst="rect">
            <a:avLst/>
          </a:prstGeom>
          <a:noFill/>
          <a:ln>
            <a:noFill/>
          </a:ln>
        </p:spPr>
      </p:pic>
      <p:pic>
        <p:nvPicPr>
          <p:cNvPr id="350" name="Google Shape;350;p21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1290637" y="3319462"/>
            <a:ext cx="2266950" cy="542925"/>
          </a:xfrm>
          <a:prstGeom prst="rect">
            <a:avLst/>
          </a:prstGeom>
          <a:noFill/>
          <a:ln>
            <a:noFill/>
          </a:ln>
        </p:spPr>
      </p:pic>
      <p:pic>
        <p:nvPicPr>
          <p:cNvPr id="351" name="Google Shape;351;p21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3729037" y="3319462"/>
            <a:ext cx="2390775" cy="542925"/>
          </a:xfrm>
          <a:prstGeom prst="rect">
            <a:avLst/>
          </a:prstGeom>
          <a:noFill/>
          <a:ln>
            <a:noFill/>
          </a:ln>
        </p:spPr>
      </p:pic>
      <p:pic>
        <p:nvPicPr>
          <p:cNvPr id="352" name="Google Shape;352;p21" descr="image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6291262" y="3319462"/>
            <a:ext cx="2095500" cy="542925"/>
          </a:xfrm>
          <a:prstGeom prst="rect">
            <a:avLst/>
          </a:prstGeom>
          <a:noFill/>
          <a:ln>
            <a:noFill/>
          </a:ln>
        </p:spPr>
      </p:pic>
      <p:pic>
        <p:nvPicPr>
          <p:cNvPr id="353" name="Google Shape;353;p21" descr="image.png"/>
          <p:cNvPicPr preferRelativeResize="0"/>
          <p:nvPr/>
        </p:nvPicPr>
        <p:blipFill rotWithShape="1">
          <a:blip r:embed="rId10">
            <a:alphaModFix/>
          </a:blip>
          <a:srcRect/>
          <a:stretch/>
        </p:blipFill>
        <p:spPr>
          <a:xfrm>
            <a:off x="8558212" y="3319462"/>
            <a:ext cx="2343150" cy="542925"/>
          </a:xfrm>
          <a:prstGeom prst="rect">
            <a:avLst/>
          </a:prstGeom>
          <a:noFill/>
          <a:ln>
            <a:noFill/>
          </a:ln>
        </p:spPr>
      </p:pic>
      <p:pic>
        <p:nvPicPr>
          <p:cNvPr id="354" name="Google Shape;354;p21" descr="image.png"/>
          <p:cNvPicPr preferRelativeResize="0"/>
          <p:nvPr/>
        </p:nvPicPr>
        <p:blipFill rotWithShape="1">
          <a:blip r:embed="rId11">
            <a:alphaModFix/>
          </a:blip>
          <a:srcRect/>
          <a:stretch/>
        </p:blipFill>
        <p:spPr>
          <a:xfrm>
            <a:off x="1581150" y="4033837"/>
            <a:ext cx="2200275" cy="542925"/>
          </a:xfrm>
          <a:prstGeom prst="rect">
            <a:avLst/>
          </a:prstGeom>
          <a:noFill/>
          <a:ln>
            <a:noFill/>
          </a:ln>
        </p:spPr>
      </p:pic>
      <p:pic>
        <p:nvPicPr>
          <p:cNvPr id="355" name="Google Shape;355;p21" descr="image.png"/>
          <p:cNvPicPr preferRelativeResize="0"/>
          <p:nvPr/>
        </p:nvPicPr>
        <p:blipFill rotWithShape="1">
          <a:blip r:embed="rId12">
            <a:alphaModFix/>
          </a:blip>
          <a:srcRect/>
          <a:stretch/>
        </p:blipFill>
        <p:spPr>
          <a:xfrm>
            <a:off x="3952875" y="4033837"/>
            <a:ext cx="2095500" cy="542925"/>
          </a:xfrm>
          <a:prstGeom prst="rect">
            <a:avLst/>
          </a:prstGeom>
          <a:noFill/>
          <a:ln>
            <a:noFill/>
          </a:ln>
        </p:spPr>
      </p:pic>
      <p:pic>
        <p:nvPicPr>
          <p:cNvPr id="356" name="Google Shape;356;p21" descr="image.png"/>
          <p:cNvPicPr preferRelativeResize="0"/>
          <p:nvPr/>
        </p:nvPicPr>
        <p:blipFill rotWithShape="1">
          <a:blip r:embed="rId13">
            <a:alphaModFix/>
          </a:blip>
          <a:srcRect/>
          <a:stretch/>
        </p:blipFill>
        <p:spPr>
          <a:xfrm>
            <a:off x="6219825" y="4033837"/>
            <a:ext cx="2200275" cy="542925"/>
          </a:xfrm>
          <a:prstGeom prst="rect">
            <a:avLst/>
          </a:prstGeom>
          <a:noFill/>
          <a:ln>
            <a:noFill/>
          </a:ln>
        </p:spPr>
      </p:pic>
      <p:pic>
        <p:nvPicPr>
          <p:cNvPr id="357" name="Google Shape;357;p21" descr="image.png"/>
          <p:cNvPicPr preferRelativeResize="0"/>
          <p:nvPr/>
        </p:nvPicPr>
        <p:blipFill rotWithShape="1">
          <a:blip r:embed="rId14">
            <a:alphaModFix/>
          </a:blip>
          <a:srcRect/>
          <a:stretch/>
        </p:blipFill>
        <p:spPr>
          <a:xfrm>
            <a:off x="8591550" y="4033837"/>
            <a:ext cx="2019300" cy="542925"/>
          </a:xfrm>
          <a:prstGeom prst="rect">
            <a:avLst/>
          </a:prstGeom>
          <a:noFill/>
          <a:ln>
            <a:noFill/>
          </a:ln>
        </p:spPr>
      </p:pic>
      <p:pic>
        <p:nvPicPr>
          <p:cNvPr id="358" name="Google Shape;358;p21" descr="image.png"/>
          <p:cNvPicPr preferRelativeResize="0"/>
          <p:nvPr/>
        </p:nvPicPr>
        <p:blipFill rotWithShape="1">
          <a:blip r:embed="rId15">
            <a:alphaModFix/>
          </a:blip>
          <a:srcRect/>
          <a:stretch/>
        </p:blipFill>
        <p:spPr>
          <a:xfrm>
            <a:off x="4881562" y="4748212"/>
            <a:ext cx="2428875" cy="542925"/>
          </a:xfrm>
          <a:prstGeom prst="rect">
            <a:avLst/>
          </a:prstGeom>
          <a:noFill/>
          <a:ln>
            <a:noFill/>
          </a:ln>
        </p:spPr>
      </p:pic>
      <p:sp>
        <p:nvSpPr>
          <p:cNvPr id="359" name="Google Shape;359;p21"/>
          <p:cNvSpPr txBox="1"/>
          <p:nvPr/>
        </p:nvSpPr>
        <p:spPr>
          <a:xfrm>
            <a:off x="762000" y="571500"/>
            <a:ext cx="11201400" cy="514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50" b="1" i="0" u="none" strike="noStrike" cap="non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Professional Skills Demonstrated</a:t>
            </a:r>
            <a:endParaRPr/>
          </a:p>
        </p:txBody>
      </p:sp>
      <p:sp>
        <p:nvSpPr>
          <p:cNvPr id="360" name="Google Shape;360;p21"/>
          <p:cNvSpPr/>
          <p:nvPr/>
        </p:nvSpPr>
        <p:spPr>
          <a:xfrm>
            <a:off x="762000" y="1200150"/>
            <a:ext cx="10668000" cy="28575"/>
          </a:xfrm>
          <a:prstGeom prst="rect">
            <a:avLst/>
          </a:prstGeom>
          <a:solidFill>
            <a:srgbClr val="EFF6F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3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5" name="Google Shape;365;p22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334125" y="283032"/>
            <a:ext cx="5095875" cy="6236642"/>
          </a:xfrm>
          <a:prstGeom prst="rect">
            <a:avLst/>
          </a:prstGeom>
          <a:noFill/>
          <a:ln>
            <a:noFill/>
          </a:ln>
        </p:spPr>
      </p:pic>
      <p:sp>
        <p:nvSpPr>
          <p:cNvPr id="366" name="Google Shape;366;p22"/>
          <p:cNvSpPr txBox="1"/>
          <p:nvPr/>
        </p:nvSpPr>
        <p:spPr>
          <a:xfrm>
            <a:off x="762000" y="571500"/>
            <a:ext cx="4950618" cy="514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50" b="1" i="0" u="none" strike="noStrike" cap="non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Conclusion</a:t>
            </a:r>
            <a:endParaRPr/>
          </a:p>
        </p:txBody>
      </p:sp>
      <p:sp>
        <p:nvSpPr>
          <p:cNvPr id="367" name="Google Shape;367;p22"/>
          <p:cNvSpPr/>
          <p:nvPr/>
        </p:nvSpPr>
        <p:spPr>
          <a:xfrm>
            <a:off x="762000" y="1200150"/>
            <a:ext cx="4714875" cy="28575"/>
          </a:xfrm>
          <a:prstGeom prst="rect">
            <a:avLst/>
          </a:prstGeom>
          <a:solidFill>
            <a:srgbClr val="EFF6F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8" name="Google Shape;368;p22"/>
          <p:cNvSpPr txBox="1"/>
          <p:nvPr/>
        </p:nvSpPr>
        <p:spPr>
          <a:xfrm>
            <a:off x="762000" y="1394280"/>
            <a:ext cx="4714875" cy="8228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 dirty="0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This project successfully transforms raw, unstructured student academic data into highly meaningful, actionable business intelligence insights.</a:t>
            </a:r>
            <a:endParaRPr dirty="0"/>
          </a:p>
        </p:txBody>
      </p:sp>
      <p:sp>
        <p:nvSpPr>
          <p:cNvPr id="369" name="Google Shape;369;p22"/>
          <p:cNvSpPr txBox="1"/>
          <p:nvPr/>
        </p:nvSpPr>
        <p:spPr>
          <a:xfrm>
            <a:off x="762000" y="2477955"/>
            <a:ext cx="4950618" cy="2762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52425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>
                <a:solidFill>
                  <a:srgbClr val="2563EB"/>
                </a:solidFill>
                <a:latin typeface="Arial"/>
                <a:ea typeface="Arial"/>
                <a:cs typeface="Arial"/>
                <a:sym typeface="Arial"/>
              </a:rPr>
              <a:t>Key Benefits</a:t>
            </a:r>
            <a:endParaRPr/>
          </a:p>
        </p:txBody>
      </p:sp>
      <p:sp>
        <p:nvSpPr>
          <p:cNvPr id="370" name="Google Shape;370;p22"/>
          <p:cNvSpPr txBox="1"/>
          <p:nvPr/>
        </p:nvSpPr>
        <p:spPr>
          <a:xfrm>
            <a:off x="762000" y="4515373"/>
            <a:ext cx="4950618" cy="2762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2385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>
                <a:solidFill>
                  <a:srgbClr val="2563EB"/>
                </a:solidFill>
                <a:latin typeface="Arial"/>
                <a:ea typeface="Arial"/>
                <a:cs typeface="Arial"/>
                <a:sym typeface="Arial"/>
              </a:rPr>
              <a:t>Future Scope</a:t>
            </a:r>
            <a:endParaRPr/>
          </a:p>
        </p:txBody>
      </p:sp>
      <p:pic>
        <p:nvPicPr>
          <p:cNvPr id="371" name="Google Shape;371;p22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497094" y="1689019"/>
            <a:ext cx="762000" cy="609600"/>
          </a:xfrm>
          <a:prstGeom prst="rect">
            <a:avLst/>
          </a:prstGeom>
          <a:noFill/>
          <a:ln>
            <a:noFill/>
          </a:ln>
        </p:spPr>
      </p:pic>
      <p:sp>
        <p:nvSpPr>
          <p:cNvPr id="372" name="Google Shape;372;p22"/>
          <p:cNvSpPr txBox="1"/>
          <p:nvPr/>
        </p:nvSpPr>
        <p:spPr>
          <a:xfrm>
            <a:off x="6832839" y="2470365"/>
            <a:ext cx="4090511" cy="7009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800" b="0" i="0" u="none" strike="noStrike" cap="none" dirty="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THANK YOU</a:t>
            </a:r>
            <a:endParaRPr dirty="0"/>
          </a:p>
        </p:txBody>
      </p:sp>
      <p:sp>
        <p:nvSpPr>
          <p:cNvPr id="373" name="Google Shape;373;p22"/>
          <p:cNvSpPr/>
          <p:nvPr/>
        </p:nvSpPr>
        <p:spPr>
          <a:xfrm>
            <a:off x="7889875" y="3361191"/>
            <a:ext cx="1976437" cy="45719"/>
          </a:xfrm>
          <a:prstGeom prst="rect">
            <a:avLst/>
          </a:prstGeom>
          <a:noFill/>
          <a:ln w="19050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4" name="Google Shape;374;p22"/>
          <p:cNvSpPr txBox="1"/>
          <p:nvPr/>
        </p:nvSpPr>
        <p:spPr>
          <a:xfrm>
            <a:off x="7377908" y="3462671"/>
            <a:ext cx="3000375" cy="15511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995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 dirty="0">
                <a:solidFill>
                  <a:srgbClr val="EFF6FF"/>
                </a:solidFill>
                <a:latin typeface="Arial"/>
                <a:ea typeface="Arial"/>
                <a:cs typeface="Arial"/>
                <a:sym typeface="Arial"/>
              </a:rPr>
              <a:t>Saket Aman</a:t>
            </a:r>
          </a:p>
          <a:p>
            <a:pPr marL="0" marR="0" lvl="0" indent="0" algn="ctr" rtl="0">
              <a:lnSpc>
                <a:spcPct val="15995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dirty="0">
                <a:solidFill>
                  <a:srgbClr val="EFF6FF"/>
                </a:solidFill>
              </a:rPr>
              <a:t>&amp;</a:t>
            </a:r>
            <a:endParaRPr lang="en-US" sz="2100" b="1" i="0" u="none" strike="noStrike" cap="none" dirty="0">
              <a:solidFill>
                <a:srgbClr val="EFF6FF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5995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 dirty="0">
                <a:solidFill>
                  <a:srgbClr val="EFF6FF"/>
                </a:solidFill>
                <a:latin typeface="Arial"/>
                <a:ea typeface="Arial"/>
                <a:cs typeface="Arial"/>
                <a:sym typeface="Arial"/>
              </a:rPr>
              <a:t>Ramtanay Chakraborty</a:t>
            </a:r>
            <a:endParaRPr dirty="0"/>
          </a:p>
        </p:txBody>
      </p:sp>
      <p:sp>
        <p:nvSpPr>
          <p:cNvPr id="375" name="Google Shape;375;p22"/>
          <p:cNvSpPr txBox="1"/>
          <p:nvPr/>
        </p:nvSpPr>
        <p:spPr>
          <a:xfrm>
            <a:off x="7596980" y="5173245"/>
            <a:ext cx="2562225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>
                <a:solidFill>
                  <a:srgbClr val="BFDBFE"/>
                </a:solidFill>
                <a:latin typeface="Arial"/>
                <a:ea typeface="Arial"/>
                <a:cs typeface="Arial"/>
                <a:sym typeface="Arial"/>
              </a:rPr>
              <a:t>ASPIRING DATA ANALYST</a:t>
            </a:r>
            <a:endParaRPr dirty="0"/>
          </a:p>
        </p:txBody>
      </p:sp>
      <p:pic>
        <p:nvPicPr>
          <p:cNvPr id="376" name="Google Shape;376;p22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762000" y="2497005"/>
            <a:ext cx="257175" cy="228600"/>
          </a:xfrm>
          <a:prstGeom prst="rect">
            <a:avLst/>
          </a:prstGeom>
          <a:noFill/>
          <a:ln>
            <a:noFill/>
          </a:ln>
        </p:spPr>
      </p:pic>
      <p:sp>
        <p:nvSpPr>
          <p:cNvPr id="377" name="Google Shape;377;p22"/>
          <p:cNvSpPr txBox="1"/>
          <p:nvPr/>
        </p:nvSpPr>
        <p:spPr>
          <a:xfrm>
            <a:off x="1028700" y="2897055"/>
            <a:ext cx="4448175" cy="274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Highly Interactive &amp; Easy to Use</a:t>
            </a:r>
            <a:endParaRPr/>
          </a:p>
        </p:txBody>
      </p:sp>
      <p:sp>
        <p:nvSpPr>
          <p:cNvPr id="378" name="Google Shape;378;p22"/>
          <p:cNvSpPr txBox="1"/>
          <p:nvPr/>
        </p:nvSpPr>
        <p:spPr>
          <a:xfrm>
            <a:off x="1028700" y="3285645"/>
            <a:ext cx="4448175" cy="274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Fast, Automated Reporting</a:t>
            </a:r>
            <a:endParaRPr/>
          </a:p>
        </p:txBody>
      </p:sp>
      <p:sp>
        <p:nvSpPr>
          <p:cNvPr id="379" name="Google Shape;379;p22"/>
          <p:cNvSpPr txBox="1"/>
          <p:nvPr/>
        </p:nvSpPr>
        <p:spPr>
          <a:xfrm>
            <a:off x="1028700" y="3674236"/>
            <a:ext cx="4448175" cy="274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Dynamic Filtering Capabilities</a:t>
            </a:r>
            <a:endParaRPr/>
          </a:p>
        </p:txBody>
      </p:sp>
      <p:sp>
        <p:nvSpPr>
          <p:cNvPr id="380" name="Google Shape;380;p22"/>
          <p:cNvSpPr txBox="1"/>
          <p:nvPr/>
        </p:nvSpPr>
        <p:spPr>
          <a:xfrm>
            <a:off x="1028700" y="4062826"/>
            <a:ext cx="4448175" cy="274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Professional, Clean Visualization</a:t>
            </a:r>
            <a:endParaRPr/>
          </a:p>
        </p:txBody>
      </p:sp>
      <p:pic>
        <p:nvPicPr>
          <p:cNvPr id="381" name="Google Shape;381;p22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762000" y="4534423"/>
            <a:ext cx="228600" cy="228600"/>
          </a:xfrm>
          <a:prstGeom prst="rect">
            <a:avLst/>
          </a:prstGeom>
          <a:noFill/>
          <a:ln>
            <a:noFill/>
          </a:ln>
        </p:spPr>
      </p:pic>
      <p:sp>
        <p:nvSpPr>
          <p:cNvPr id="382" name="Google Shape;382;p22"/>
          <p:cNvSpPr txBox="1"/>
          <p:nvPr/>
        </p:nvSpPr>
        <p:spPr>
          <a:xfrm>
            <a:off x="1028700" y="4934473"/>
            <a:ext cx="4448175" cy="274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Integration with Power Query &amp; Power Pivot</a:t>
            </a:r>
            <a:endParaRPr/>
          </a:p>
        </p:txBody>
      </p:sp>
      <p:sp>
        <p:nvSpPr>
          <p:cNvPr id="383" name="Google Shape;383;p22"/>
          <p:cNvSpPr txBox="1"/>
          <p:nvPr/>
        </p:nvSpPr>
        <p:spPr>
          <a:xfrm>
            <a:off x="1028700" y="5323063"/>
            <a:ext cx="4448175" cy="274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Migration to Power BI Dashboards</a:t>
            </a:r>
            <a:endParaRPr/>
          </a:p>
        </p:txBody>
      </p:sp>
      <p:sp>
        <p:nvSpPr>
          <p:cNvPr id="384" name="Google Shape;384;p22"/>
          <p:cNvSpPr txBox="1"/>
          <p:nvPr/>
        </p:nvSpPr>
        <p:spPr>
          <a:xfrm>
            <a:off x="1028700" y="5711654"/>
            <a:ext cx="4448175" cy="274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Automated PDF Report Card Generation</a:t>
            </a:r>
            <a:endParaRPr/>
          </a:p>
        </p:txBody>
      </p:sp>
      <p:sp>
        <p:nvSpPr>
          <p:cNvPr id="385" name="Google Shape;385;p22"/>
          <p:cNvSpPr txBox="1"/>
          <p:nvPr/>
        </p:nvSpPr>
        <p:spPr>
          <a:xfrm>
            <a:off x="1028700" y="6100244"/>
            <a:ext cx="4448175" cy="274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Implementing Predictive Analytics Models</a:t>
            </a:r>
            <a:endParaRPr/>
          </a:p>
        </p:txBody>
      </p:sp>
      <p:pic>
        <p:nvPicPr>
          <p:cNvPr id="386" name="Google Shape;386;p22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809625" y="2973255"/>
            <a:ext cx="76200" cy="76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87" name="Google Shape;387;p22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809625" y="3361845"/>
            <a:ext cx="76200" cy="76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88" name="Google Shape;388;p22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809625" y="3750436"/>
            <a:ext cx="76200" cy="76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89" name="Google Shape;389;p22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809625" y="4139026"/>
            <a:ext cx="76200" cy="76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90" name="Google Shape;390;p22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809625" y="5097757"/>
            <a:ext cx="76200" cy="76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91" name="Google Shape;391;p22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809625" y="5399263"/>
            <a:ext cx="76200" cy="76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92" name="Google Shape;392;p22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809625" y="5787854"/>
            <a:ext cx="76200" cy="76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93" name="Google Shape;393;p22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809625" y="6176444"/>
            <a:ext cx="76200" cy="76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33</TotalTime>
  <Words>621</Words>
  <Application>Microsoft Office PowerPoint</Application>
  <PresentationFormat>Widescreen</PresentationFormat>
  <Paragraphs>108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SAKET AMAN</dc:creator>
  <cp:lastModifiedBy>SAKET AMAN</cp:lastModifiedBy>
  <cp:revision>4</cp:revision>
  <dcterms:modified xsi:type="dcterms:W3CDTF">2026-07-14T05:10:20Z</dcterms:modified>
</cp:coreProperties>
</file>