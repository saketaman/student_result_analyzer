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4.jpe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4.jpe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9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26" Type="http://schemas.openxmlformats.org/officeDocument/2006/relationships/image" Target="../media/image63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5" Type="http://schemas.openxmlformats.org/officeDocument/2006/relationships/image" Target="../media/image6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29" Type="http://schemas.openxmlformats.org/officeDocument/2006/relationships/image" Target="../media/image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61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23" Type="http://schemas.openxmlformats.org/officeDocument/2006/relationships/image" Target="../media/image60.png"/><Relationship Id="rId28" Type="http://schemas.openxmlformats.org/officeDocument/2006/relationships/image" Target="../media/image65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31" Type="http://schemas.openxmlformats.org/officeDocument/2006/relationships/image" Target="../media/image4.jpe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Relationship Id="rId22" Type="http://schemas.openxmlformats.org/officeDocument/2006/relationships/image" Target="../media/image59.png"/><Relationship Id="rId27" Type="http://schemas.openxmlformats.org/officeDocument/2006/relationships/image" Target="../media/image64.png"/><Relationship Id="rId30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11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8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62000" y="1785639"/>
            <a:ext cx="4950618" cy="1774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Student Result Analyzer Dashboard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62000" y="3750468"/>
            <a:ext cx="4714875" cy="693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Interactive Academic Performance Analysis using Microsoft Excel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62000" y="4919960"/>
            <a:ext cx="1690914" cy="63514"/>
          </a:xfrm>
          <a:prstGeom prst="rect">
            <a:avLst/>
          </a:prstGeom>
          <a:noFill/>
          <a:ln w="2857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5234285"/>
            <a:ext cx="4714875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Ramtanay Chakraborty &amp; Saket Aman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5617071"/>
            <a:ext cx="47148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571500"/>
            <a:ext cx="5095875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084" y="966489"/>
            <a:ext cx="4000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9634" y="966489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7F9718-B985-BD25-D637-B829E7F51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373033"/>
            <a:ext cx="48006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29400" y="5417277"/>
            <a:ext cx="4800600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62650" y="5706408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1477929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The Challenge of Educational Data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1827372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Schools continually collect large volumes of student academic data. However, relying on manual analysis makes it exceptionally difficult to:</a:t>
            </a:r>
            <a:endParaRPr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745358"/>
            <a:ext cx="50958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771650" y="5620683"/>
            <a:ext cx="2209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Manual Analysis Problems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39050" y="5620683"/>
            <a:ext cx="221932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Excel Dashboard Solutions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28700" y="284074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Identify top-performing students efficiently.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28700" y="322933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individual student performance holistically.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1028700" y="361792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Understand complex grade distributions.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28700" y="400651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Track historical pass and fail rates accurately.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28700" y="439510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Compare outcomes across different academic streams.</a:t>
            </a:r>
            <a:endParaRPr dirty="0"/>
          </a:p>
        </p:txBody>
      </p:sp>
      <p:sp>
        <p:nvSpPr>
          <p:cNvPr id="111" name="Google Shape;111;p14"/>
          <p:cNvSpPr txBox="1"/>
          <p:nvPr/>
        </p:nvSpPr>
        <p:spPr>
          <a:xfrm>
            <a:off x="1028700" y="4783693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Generate rapid, on-demand administrative reports.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2525" y="56206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9925" y="5620683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291694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30553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369412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08271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47130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9625" y="485989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E1966A-B1C1-4467-EC00-219E867D67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27;p15" descr="image.png">
            <a:extLst>
              <a:ext uri="{FF2B5EF4-FFF2-40B4-BE49-F238E27FC236}">
                <a16:creationId xmlns:a16="http://schemas.microsoft.com/office/drawing/2014/main" id="{2182B57E-A997-4B29-6BB1-EEA31666DC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252" y="145454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8;p15" descr="image.png">
            <a:extLst>
              <a:ext uri="{FF2B5EF4-FFF2-40B4-BE49-F238E27FC236}">
                <a16:creationId xmlns:a16="http://schemas.microsoft.com/office/drawing/2014/main" id="{5772698B-DE6A-9BCB-BC47-A5A2240DE3D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8452" y="1528029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9;p15" descr="image.png">
            <a:extLst>
              <a:ext uri="{FF2B5EF4-FFF2-40B4-BE49-F238E27FC236}">
                <a16:creationId xmlns:a16="http://schemas.microsoft.com/office/drawing/2014/main" id="{296A4F49-791A-CF05-C6A9-600658F976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651" y="1528029"/>
            <a:ext cx="3365599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7252" y="411608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8452" y="4116087"/>
            <a:ext cx="3365450" cy="2359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9651" y="4116087"/>
            <a:ext cx="3365599" cy="235945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Project Objectives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057275" y="2220576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Analyze Performance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57275" y="2639676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Deeply analyze student academic performance using structured data modeling.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4708475" y="2220576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Interactive Dashboard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708475" y="2639676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Build a fully interactive dashboard for intuitive, click-driven data exploration.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59675" y="2220576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Reports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9675" y="2639676"/>
            <a:ext cx="27750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Create dynamic report generation capabilities to automate standard academic reviews.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057275" y="4913409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Compare Grades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57275" y="5332509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Facilitate macro and micro comparisons of grades across subjects and demographics.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737971" y="4883913"/>
            <a:ext cx="291364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Identify Performers</a:t>
            </a:r>
            <a:endParaRPr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4737971" y="5303013"/>
            <a:ext cx="27749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Instantly identify top academic performers overall and within specific streams.</a:t>
            </a:r>
            <a:endParaRPr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8359675" y="4913409"/>
            <a:ext cx="291380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Visualize Averages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359675" y="5332509"/>
            <a:ext cx="27750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Provide clear, visual subject-wise performance benchmarks and averages.</a:t>
            </a:r>
            <a:endParaRPr dirty="0"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7275" y="1708068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8475" y="1708068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675" y="1708068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72023" y="4371405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37971" y="4341909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74423" y="437140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416F80-C631-02E8-4AEC-A911C0528D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676923"/>
            <a:ext cx="10668000" cy="741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14765"/>
            <a:ext cx="5095875" cy="3933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32882"/>
            <a:ext cx="5095875" cy="3915078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Dataset Overview &amp; Cleaning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1771650" y="5954069"/>
            <a:ext cx="771525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Raw Data</a:t>
            </a:r>
            <a:endParaRPr/>
          </a:p>
        </p:txBody>
      </p:sp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2089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4349650" y="5954069"/>
            <a:ext cx="1152525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/>
          </a:p>
        </p:txBody>
      </p:sp>
      <p:pic>
        <p:nvPicPr>
          <p:cNvPr id="162" name="Google Shape;16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81090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7308651" y="5954069"/>
            <a:ext cx="1028700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Pivot Tables</a:t>
            </a:r>
            <a:endParaRPr/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6266" y="593041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10143827" y="5954069"/>
            <a:ext cx="895350" cy="181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1057275" y="1610040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952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Dataset Columns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629400" y="1610040"/>
            <a:ext cx="473059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Data Cleaning Process</a:t>
            </a:r>
            <a:endParaRPr/>
          </a:p>
        </p:txBody>
      </p:sp>
      <p:pic>
        <p:nvPicPr>
          <p:cNvPr id="168" name="Google Shape;168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730525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89526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24702" y="5806589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7275" y="162909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6"/>
          <p:cNvSpPr txBox="1"/>
          <p:nvPr/>
        </p:nvSpPr>
        <p:spPr>
          <a:xfrm>
            <a:off x="1323975" y="202914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ID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1323975" y="241773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Student Name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323975" y="280632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Gender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323975" y="319491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Stream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323975" y="358350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Section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323975" y="3972091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Subject Marks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3719512" y="202914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Marks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3719512" y="241773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3719512" y="280632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Position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3719512" y="319491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Grade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719512" y="3583500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Attendance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719512" y="3972091"/>
            <a:ext cx="184308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Remark</a:t>
            </a:r>
            <a:endParaRPr/>
          </a:p>
        </p:txBody>
      </p:sp>
      <p:pic>
        <p:nvPicPr>
          <p:cNvPr id="185" name="Google Shape;185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29400" y="162909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6"/>
          <p:cNvSpPr txBox="1"/>
          <p:nvPr/>
        </p:nvSpPr>
        <p:spPr>
          <a:xfrm>
            <a:off x="6896100" y="1925904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Remove duplicates: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Ensure unique student records.</a:t>
            </a:r>
            <a:endParaRPr dirty="0"/>
          </a:p>
        </p:txBody>
      </p:sp>
      <p:sp>
        <p:nvSpPr>
          <p:cNvPr id="187" name="Google Shape;187;p16"/>
          <p:cNvSpPr txBox="1"/>
          <p:nvPr/>
        </p:nvSpPr>
        <p:spPr>
          <a:xfrm>
            <a:off x="6896100" y="2371074"/>
            <a:ext cx="4238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Correct formatting: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Standardize text and numbers.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896100" y="2759664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Handle missing values: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Impute or clean blank entries.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6896100" y="3127585"/>
            <a:ext cx="42386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Validate marks: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Ensure numeric consistency.</a:t>
            </a:r>
            <a:endParaRPr dirty="0"/>
          </a:p>
        </p:txBody>
      </p:sp>
      <p:sp>
        <p:nvSpPr>
          <p:cNvPr id="190" name="Google Shape;190;p16"/>
          <p:cNvSpPr txBox="1"/>
          <p:nvPr/>
        </p:nvSpPr>
        <p:spPr>
          <a:xfrm>
            <a:off x="6896100" y="3516175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Calculate metrics: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Auto-calculate Total and Average.</a:t>
            </a:r>
            <a:endParaRPr dirty="0"/>
          </a:p>
        </p:txBody>
      </p:sp>
      <p:sp>
        <p:nvSpPr>
          <p:cNvPr id="191" name="Google Shape;191;p16"/>
          <p:cNvSpPr txBox="1"/>
          <p:nvPr/>
        </p:nvSpPr>
        <p:spPr>
          <a:xfrm>
            <a:off x="6896100" y="3869347"/>
            <a:ext cx="423862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Assign logic: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Conditionally assign Grades based on logic.</a:t>
            </a:r>
            <a:endParaRPr dirty="0"/>
          </a:p>
        </p:txBody>
      </p:sp>
      <p:pic>
        <p:nvPicPr>
          <p:cNvPr id="192" name="Google Shape;19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4939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28825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32711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36597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104900" y="404829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4939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28825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32711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365970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500437" y="404829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10534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55051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291007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66003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99057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677025" y="325236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EA8C1E-53E2-AAE2-4D3A-D2FFF551A5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23283" y="5512191"/>
            <a:ext cx="5095875" cy="112083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7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Interactive Dashboard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762000" y="1344261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Performance Indicators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62000" y="3047061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Visual Analytics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62000" y="4849984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Interactive Controls</a:t>
            </a:r>
            <a:endParaRPr/>
          </a:p>
        </p:txBody>
      </p:sp>
      <p:pic>
        <p:nvPicPr>
          <p:cNvPr id="222" name="Google Shape;22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3633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7"/>
          <p:cNvSpPr txBox="1"/>
          <p:nvPr/>
        </p:nvSpPr>
        <p:spPr>
          <a:xfrm>
            <a:off x="1028700" y="169079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Total Students, Passed, and Failed Counts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1028700" y="207938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1st Rank Overall Student Spotlight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1028700" y="246797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Average Marks Obtained per Subject Summary</a:t>
            </a:r>
            <a:endParaRPr/>
          </a:p>
        </p:txBody>
      </p:sp>
      <p:pic>
        <p:nvPicPr>
          <p:cNvPr id="226" name="Google Shape;22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066111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 txBox="1"/>
          <p:nvPr/>
        </p:nvSpPr>
        <p:spPr>
          <a:xfrm>
            <a:off x="1028700" y="3466161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Doughnut/Pie: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Grade Distribution by Gender &amp; Overall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028700" y="3854751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Column Charts: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Grade Count by Stream &amp; Subject Averages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1028700" y="4270894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Funnel Chart: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Top 10 Performing Students</a:t>
            </a:r>
            <a:endParaRPr/>
          </a:p>
        </p:txBody>
      </p:sp>
      <p:pic>
        <p:nvPicPr>
          <p:cNvPr id="230" name="Google Shape;2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82549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/>
        </p:nvSpPr>
        <p:spPr>
          <a:xfrm>
            <a:off x="1028700" y="5152972"/>
            <a:ext cx="4829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Slicers for Gender, Stream, and Grade filtering</a:t>
            </a:r>
            <a:endParaRPr dirty="0"/>
          </a:p>
        </p:txBody>
      </p:sp>
      <p:sp>
        <p:nvSpPr>
          <p:cNvPr id="232" name="Google Shape;232;p17"/>
          <p:cNvSpPr txBox="1"/>
          <p:nvPr/>
        </p:nvSpPr>
        <p:spPr>
          <a:xfrm>
            <a:off x="1028700" y="5527048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Built-in navigation buttons (Raw Data, Clean Data, Report Card)</a:t>
            </a:r>
            <a:endParaRPr dirty="0"/>
          </a:p>
        </p:txBody>
      </p:sp>
      <p:sp>
        <p:nvSpPr>
          <p:cNvPr id="233" name="Google Shape;233;p17"/>
          <p:cNvSpPr txBox="1"/>
          <p:nvPr/>
        </p:nvSpPr>
        <p:spPr>
          <a:xfrm>
            <a:off x="5707750" y="5554924"/>
            <a:ext cx="4676775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39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Interaction: Slicers update every Pivot Table and Pivot Chart dynamically, granting instantaneous data insights.</a:t>
            </a:r>
            <a:endParaRPr dirty="0"/>
          </a:p>
        </p:txBody>
      </p:sp>
      <p:pic>
        <p:nvPicPr>
          <p:cNvPr id="234" name="Google Shape;23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182504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22815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58771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62944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00352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37612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30174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69033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51174" y="5662204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0C01A5-0A9D-FE07-D3EA-79D98D4388C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7875" y="1705457"/>
            <a:ext cx="5960225" cy="30738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787FAA-8C2D-9660-62B4-2B28D3006F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Report Card Module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62000" y="1711326"/>
            <a:ext cx="535066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Automated Student Profiles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762000" y="2130426"/>
            <a:ext cx="5095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Report Card module serves as a deep dive into individual student performance, generated completely autonomously via dashboard interactions.</a:t>
            </a:r>
            <a:endParaRPr dirty="0"/>
          </a:p>
        </p:txBody>
      </p:sp>
      <p:pic>
        <p:nvPicPr>
          <p:cNvPr id="254" name="Google Shape;2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730376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/>
        </p:nvSpPr>
        <p:spPr>
          <a:xfrm>
            <a:off x="1028700" y="3122934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Dynamic Selection: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Students are selected instantly using a connected slicer UI.</a:t>
            </a:r>
            <a:endParaRPr dirty="0"/>
          </a:p>
        </p:txBody>
      </p:sp>
      <p:sp>
        <p:nvSpPr>
          <p:cNvPr id="256" name="Google Shape;256;p18"/>
          <p:cNvSpPr txBox="1"/>
          <p:nvPr/>
        </p:nvSpPr>
        <p:spPr>
          <a:xfrm>
            <a:off x="1028700" y="3727759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Comprehensive Display: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Automatically retrieves Name, ID, Percentage, Rank, Grade, Remarks, Stream, and Section.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028700" y="4332583"/>
            <a:ext cx="48291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Subject Breakdown: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Displays exact scores for all enrolled subjects side-by-side.</a:t>
            </a:r>
            <a:endParaRPr dirty="0"/>
          </a:p>
        </p:txBody>
      </p:sp>
      <p:pic>
        <p:nvPicPr>
          <p:cNvPr id="262" name="Google Shape;2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25719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380395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466839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7ECD33-A537-ADB7-C5D8-5D461FCD7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6" y="1578887"/>
            <a:ext cx="5993038" cy="3566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2E1974-5259-4F1D-53C5-2646D6AA8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16097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476625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191250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05875" y="23907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62000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476625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191250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9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05875" y="317182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2000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9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476625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9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6191250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9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905875" y="3952875"/>
            <a:ext cx="252412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9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Tools &amp; Technologies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19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942975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657600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9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6372225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19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9086850" y="18097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942975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9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3657600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9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6372225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9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086850" y="25908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42975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3657600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6372225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086850" y="337185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9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942975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9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3657600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9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6372225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9" descr="image.png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9086850" y="4152900"/>
            <a:ext cx="2286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0E41BB-E611-ECEA-96A3-F83CBE00E3F4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76625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05875" y="1609725"/>
            <a:ext cx="2524125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933700"/>
            <a:ext cx="5191125" cy="34992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38875" y="2933700"/>
            <a:ext cx="5191125" cy="3499246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0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Key Findings &amp; Insights</a:t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962025" y="1838325"/>
            <a:ext cx="21240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dirty="0"/>
          </a:p>
        </p:txBody>
      </p:sp>
      <p:sp>
        <p:nvSpPr>
          <p:cNvPr id="319" name="Google Shape;319;p20"/>
          <p:cNvSpPr txBox="1"/>
          <p:nvPr/>
        </p:nvSpPr>
        <p:spPr>
          <a:xfrm>
            <a:off x="962025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TOTAL STUDENTS ANALYZED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3676650" y="1838325"/>
            <a:ext cx="21240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 dirty="0"/>
          </a:p>
        </p:txBody>
      </p:sp>
      <p:sp>
        <p:nvSpPr>
          <p:cNvPr id="321" name="Google Shape;321;p20"/>
          <p:cNvSpPr txBox="1"/>
          <p:nvPr/>
        </p:nvSpPr>
        <p:spPr>
          <a:xfrm>
            <a:off x="3676650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PASS RATE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6391275" y="1838325"/>
            <a:ext cx="212407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0F172A"/>
                </a:solidFill>
              </a:rPr>
              <a:t>20</a:t>
            </a:r>
            <a:r>
              <a:rPr lang="en-US" sz="31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6391275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FAIL RATE</a:t>
            </a:r>
            <a:endParaRPr/>
          </a:p>
        </p:txBody>
      </p:sp>
      <p:sp>
        <p:nvSpPr>
          <p:cNvPr id="324" name="Google Shape;324;p20"/>
          <p:cNvSpPr txBox="1"/>
          <p:nvPr/>
        </p:nvSpPr>
        <p:spPr>
          <a:xfrm>
            <a:off x="9105900" y="1914525"/>
            <a:ext cx="21240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Kumari N.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9105900" y="2286000"/>
            <a:ext cx="212407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OVERALL TOP RANK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057275" y="3228975"/>
            <a:ext cx="483060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Performance Analytics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534150" y="3228975"/>
            <a:ext cx="483060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/>
          </a:p>
        </p:txBody>
      </p:sp>
      <p:pic>
        <p:nvPicPr>
          <p:cNvPr id="328" name="Google Shape;32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7275" y="32480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 txBox="1"/>
          <p:nvPr/>
        </p:nvSpPr>
        <p:spPr>
          <a:xfrm>
            <a:off x="1323975" y="3600450"/>
            <a:ext cx="4333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Subject Averages: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Clear disparities identified in subject mastery (e.g., Mathematics vs. English).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323975" y="426333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Grade Distribution: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Visualization reveals the primary concentration of academic results within standard curves.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1323975" y="5200501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Demographic Trends: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Gender-wise grade analysis exposes varying academic strengths and weaknesses.</a:t>
            </a:r>
            <a:endParaRPr/>
          </a:p>
        </p:txBody>
      </p:sp>
      <p:pic>
        <p:nvPicPr>
          <p:cNvPr id="332" name="Google Shape;332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3248025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0"/>
          <p:cNvSpPr txBox="1"/>
          <p:nvPr/>
        </p:nvSpPr>
        <p:spPr>
          <a:xfrm>
            <a:off x="6800850" y="360045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 Making: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Helps administrators identify underperforming streams instantly to allocate educational resources effectively.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6800850" y="4537620"/>
            <a:ext cx="4333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Reward Systems: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Effortlessly extracts the Top 10 performing students for scholarship or recognition programs.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6800850" y="5474791"/>
            <a:ext cx="43338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Replaces hours of manual filtering with instant, click-based interactive reporting.</a:t>
            </a:r>
            <a:endParaRPr/>
          </a:p>
        </p:txBody>
      </p:sp>
      <p:pic>
        <p:nvPicPr>
          <p:cNvPr id="336" name="Google Shape;33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36766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433953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04900" y="527670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367665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4613820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81775" y="5550991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09FCD4-7B50-EB40-A975-F0269AF953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125" y="2605087"/>
            <a:ext cx="18002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52800" y="2605087"/>
            <a:ext cx="17811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05425" y="2605087"/>
            <a:ext cx="21336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10475" y="2605087"/>
            <a:ext cx="32004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90637" y="3319462"/>
            <a:ext cx="22669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729037" y="3319462"/>
            <a:ext cx="23907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91262" y="3319462"/>
            <a:ext cx="20955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58212" y="3319462"/>
            <a:ext cx="234315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81150" y="4033837"/>
            <a:ext cx="2200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952875" y="4033837"/>
            <a:ext cx="20955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19825" y="4033837"/>
            <a:ext cx="220027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91550" y="4033837"/>
            <a:ext cx="20193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881562" y="4748212"/>
            <a:ext cx="2428875" cy="5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 txBox="1"/>
          <p:nvPr/>
        </p:nvSpPr>
        <p:spPr>
          <a:xfrm>
            <a:off x="762000" y="571500"/>
            <a:ext cx="112014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Professional Skills Demonstrated</a:t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>
            <a:off x="762000" y="1200150"/>
            <a:ext cx="10668000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9F9AE1-5395-A743-0D8E-51C46D1F28D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83032"/>
            <a:ext cx="5095875" cy="6236642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762000" y="571500"/>
            <a:ext cx="4950618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762000" y="1200150"/>
            <a:ext cx="4714875" cy="285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 txBox="1"/>
          <p:nvPr/>
        </p:nvSpPr>
        <p:spPr>
          <a:xfrm>
            <a:off x="762000" y="1394280"/>
            <a:ext cx="47148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This project successfully transforms raw, unstructured student academic data into highly meaningful, actionable business intelligence insights.</a:t>
            </a:r>
            <a:endParaRPr dirty="0"/>
          </a:p>
        </p:txBody>
      </p:sp>
      <p:sp>
        <p:nvSpPr>
          <p:cNvPr id="369" name="Google Shape;369;p22"/>
          <p:cNvSpPr txBox="1"/>
          <p:nvPr/>
        </p:nvSpPr>
        <p:spPr>
          <a:xfrm>
            <a:off x="762000" y="2477955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Key Benefits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762000" y="4515373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/>
          </a:p>
        </p:txBody>
      </p:sp>
      <p:pic>
        <p:nvPicPr>
          <p:cNvPr id="371" name="Google Shape;37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97094" y="1689019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2"/>
          <p:cNvSpPr txBox="1"/>
          <p:nvPr/>
        </p:nvSpPr>
        <p:spPr>
          <a:xfrm>
            <a:off x="6832839" y="2470365"/>
            <a:ext cx="4090511" cy="700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sp>
        <p:nvSpPr>
          <p:cNvPr id="373" name="Google Shape;373;p22"/>
          <p:cNvSpPr/>
          <p:nvPr/>
        </p:nvSpPr>
        <p:spPr>
          <a:xfrm>
            <a:off x="7889875" y="3361191"/>
            <a:ext cx="1976437" cy="45719"/>
          </a:xfrm>
          <a:prstGeom prst="rect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2"/>
          <p:cNvSpPr txBox="1"/>
          <p:nvPr/>
        </p:nvSpPr>
        <p:spPr>
          <a:xfrm>
            <a:off x="7377908" y="3462671"/>
            <a:ext cx="3000375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FF6FF"/>
                </a:solidFill>
                <a:latin typeface="Arial"/>
                <a:ea typeface="Arial"/>
                <a:cs typeface="Arial"/>
                <a:sym typeface="Arial"/>
              </a:rPr>
              <a:t>Saket Aman</a:t>
            </a: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EFF6FF"/>
                </a:solidFill>
              </a:rPr>
              <a:t>&amp;</a:t>
            </a:r>
            <a:endParaRPr lang="en-US" sz="2100" b="1" i="0" u="none" strike="noStrike" cap="none" dirty="0">
              <a:solidFill>
                <a:srgbClr val="EFF6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EFF6FF"/>
                </a:solidFill>
                <a:latin typeface="Arial"/>
                <a:ea typeface="Arial"/>
                <a:cs typeface="Arial"/>
                <a:sym typeface="Arial"/>
              </a:rPr>
              <a:t>Ramtanay Chakraborty</a:t>
            </a:r>
            <a:endParaRPr dirty="0"/>
          </a:p>
        </p:txBody>
      </p:sp>
      <p:sp>
        <p:nvSpPr>
          <p:cNvPr id="375" name="Google Shape;375;p22"/>
          <p:cNvSpPr txBox="1"/>
          <p:nvPr/>
        </p:nvSpPr>
        <p:spPr>
          <a:xfrm>
            <a:off x="7596980" y="5173245"/>
            <a:ext cx="2562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BFDBFE"/>
                </a:solidFill>
                <a:latin typeface="Arial"/>
                <a:ea typeface="Arial"/>
                <a:cs typeface="Arial"/>
                <a:sym typeface="Arial"/>
              </a:rPr>
              <a:t>ASPIRING DATA ANALYST</a:t>
            </a:r>
            <a:endParaRPr dirty="0"/>
          </a:p>
        </p:txBody>
      </p:sp>
      <p:pic>
        <p:nvPicPr>
          <p:cNvPr id="376" name="Google Shape;37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49700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2"/>
          <p:cNvSpPr txBox="1"/>
          <p:nvPr/>
        </p:nvSpPr>
        <p:spPr>
          <a:xfrm>
            <a:off x="1028700" y="2897055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Highly Interactive &amp; Easy to Use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1028700" y="3285645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Fast, Automated Reporting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1028700" y="367423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Dynamic Filtering Capabilities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028700" y="406282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Professional, Clean Visualization</a:t>
            </a:r>
            <a:endParaRPr/>
          </a:p>
        </p:txBody>
      </p:sp>
      <p:pic>
        <p:nvPicPr>
          <p:cNvPr id="381" name="Google Shape;38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34423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2"/>
          <p:cNvSpPr txBox="1"/>
          <p:nvPr/>
        </p:nvSpPr>
        <p:spPr>
          <a:xfrm>
            <a:off x="1028700" y="4934473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Integration with Power Query &amp; Power Pivot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1028700" y="5323063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Migration to Power BI Dashboards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1028700" y="5711654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Automated PDF Report Card Generation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1028700" y="6100244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Implementing Predictive Analytics Models</a:t>
            </a:r>
            <a:endParaRPr/>
          </a:p>
        </p:txBody>
      </p:sp>
      <p:pic>
        <p:nvPicPr>
          <p:cNvPr id="386" name="Google Shape;38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97325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36184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375043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4139026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097757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399263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5787854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6176444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E1167D-FEA5-73FF-2D49-BC101AFA03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182091" cy="63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621</Words>
  <Application>Microsoft Office PowerPoint</Application>
  <PresentationFormat>Widescreen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SAKET AMAN</dc:creator>
  <cp:lastModifiedBy>SAKET AMAN</cp:lastModifiedBy>
  <cp:revision>5</cp:revision>
  <dcterms:modified xsi:type="dcterms:W3CDTF">2026-07-14T09:20:25Z</dcterms:modified>
</cp:coreProperties>
</file>